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3541"/>
  </p:normalViewPr>
  <p:slideViewPr>
    <p:cSldViewPr snapToGrid="0">
      <p:cViewPr>
        <p:scale>
          <a:sx n="72" d="100"/>
          <a:sy n="72" d="100"/>
        </p:scale>
        <p:origin x="824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A788F7-D465-3B43-AAE9-B446C18E47F6}" type="datetimeFigureOut">
              <a:rPr lang="en-US" smtClean="0"/>
              <a:t>7/22/24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3CAD57-4A8D-5F41-9709-EA3A5B477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932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CAD57-4A8D-5F41-9709-EA3A5B477EB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215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26A9C-2312-C276-A356-6293A7E436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4335EE-1582-C887-62F5-266B5A2136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E34C3-8C11-5307-DFB0-5358A4B5E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25C0B-691E-BA44-9361-9F7EC1D8832F}" type="datetimeFigureOut">
              <a:rPr lang="en-US" smtClean="0"/>
              <a:t>7/22/24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91209-D9DB-62A7-5011-CDEEC9C49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1587F-E6DA-0710-8222-8065EEDC8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9A2B3-455E-C547-A4AC-6BDFB6163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43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260AC-8F6D-35F8-4538-886C9EE06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6787D-30BC-2BB5-25F1-D0F99317A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65929-13B8-FF82-ECC8-B58997265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25C0B-691E-BA44-9361-9F7EC1D8832F}" type="datetimeFigureOut">
              <a:rPr lang="en-US" smtClean="0"/>
              <a:t>7/22/24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29AC8-6055-6373-BB2F-542117DF5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18A5D-5BC9-174F-3228-491937B63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9A2B3-455E-C547-A4AC-6BDFB6163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096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28581-3160-55D3-123B-263C966A3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B16786-3D84-7FF1-64F8-74F6D65FC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35DD9-74A4-8CE9-6FA1-D9F18B9F9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25C0B-691E-BA44-9361-9F7EC1D8832F}" type="datetimeFigureOut">
              <a:rPr lang="en-US" smtClean="0"/>
              <a:t>7/22/24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C7B47-52A4-AA9E-1FD5-5D61A7567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17AEA-27B2-156D-9DCC-C7DBD930E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9A2B3-455E-C547-A4AC-6BDFB6163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828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03BDB-6F78-9588-2456-12BF96696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9ACC1-EF69-1854-E6F7-AAC8FE5221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207AC5-88D3-58D6-66DB-8D5CFD78D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AE891C-7A53-6C3A-5D3A-7CF5E49E3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25C0B-691E-BA44-9361-9F7EC1D8832F}" type="datetimeFigureOut">
              <a:rPr lang="en-US" smtClean="0"/>
              <a:t>7/22/24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F6FDD-FD7A-D1BD-4C1A-E8D5A4F1A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D85D71-9577-B14B-9085-3C2D1DBFC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9A2B3-455E-C547-A4AC-6BDFB6163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657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5DA17-CD75-D35C-B73A-5CF944AFC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47EC6-DBD6-EF01-8D94-991524093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86E825-7F49-A331-B495-F6E2B4512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38833-C569-E2E6-2FCC-D6F9D4444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A76FE9-460B-D7B5-BA9D-667E1287AB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BBA325-8276-4231-41C8-53BEFF1E1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25C0B-691E-BA44-9361-9F7EC1D8832F}" type="datetimeFigureOut">
              <a:rPr lang="en-US" smtClean="0"/>
              <a:t>7/22/24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1CCEF7-D303-9C79-4C06-659B63044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57C585-6009-2751-8F7C-5E95A50C3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9A2B3-455E-C547-A4AC-6BDFB6163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714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CC6C9-B9CD-EB91-6D31-E8348970E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2907A8-A1EC-A867-51E0-5F27B4DD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25C0B-691E-BA44-9361-9F7EC1D8832F}" type="datetimeFigureOut">
              <a:rPr lang="en-US" smtClean="0"/>
              <a:t>7/22/24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8BDE12-8971-B6F8-D8D3-D0AE49EB4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FF7671-3D30-4D3F-45D7-66FA8EE60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9A2B3-455E-C547-A4AC-6BDFB6163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809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10FFA3-FCEE-A7A1-D298-3B0FE57EA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25C0B-691E-BA44-9361-9F7EC1D8832F}" type="datetimeFigureOut">
              <a:rPr lang="en-US" smtClean="0"/>
              <a:t>7/22/24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0958F7-8248-17D1-C79B-7957850A7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7F71B-8DF6-BDEA-071B-E551D97D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9A2B3-455E-C547-A4AC-6BDFB6163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472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E16E6-9381-45F7-4257-D0BF4CD4A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AD618-281E-55E1-E706-7D5F5E2CB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12B48-86DF-8B83-A28B-BECBD5318A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A7731-9272-308D-93B8-8B3BE8A51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25C0B-691E-BA44-9361-9F7EC1D8832F}" type="datetimeFigureOut">
              <a:rPr lang="en-US" smtClean="0"/>
              <a:t>7/22/24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18359-7A56-3F0D-806E-4CF105123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A3308-6FCF-0AEA-6BBE-6F707EBF5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9A2B3-455E-C547-A4AC-6BDFB6163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913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47F0-C770-3C23-92CA-4CCBF2FCE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80A223-4C09-1738-1375-0ED8268953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167B2-2F06-C2E0-8E25-AA69468000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87477-39EB-CF4D-1065-0AF772885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25C0B-691E-BA44-9361-9F7EC1D8832F}" type="datetimeFigureOut">
              <a:rPr lang="en-US" smtClean="0"/>
              <a:t>7/22/24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403A8-D7CE-7CEB-6567-12372F5F6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957C8-1A7E-428E-B97D-D6B8E749E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9A2B3-455E-C547-A4AC-6BDFB6163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716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7A73A-4DC7-06D5-53F5-EA6768161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27C5CA-4BC5-4FDA-BC2F-96BE14DA7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A9A1A-41BE-31AD-3E3B-2508F8A5F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25C0B-691E-BA44-9361-9F7EC1D8832F}" type="datetimeFigureOut">
              <a:rPr lang="en-US" smtClean="0"/>
              <a:t>7/22/24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5A2E9-8218-D0FB-DDAB-341C6F482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AB675-CE3F-25AB-E243-9D0C48C21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9A2B3-455E-C547-A4AC-6BDFB6163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011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A2AFDE-2D6B-852E-12F1-4D45DC71EF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41081F-0090-2CE0-217E-FCFF724D5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EC6D7-6627-2C90-DE6B-CF4F0290A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25C0B-691E-BA44-9361-9F7EC1D8832F}" type="datetimeFigureOut">
              <a:rPr lang="en-US" smtClean="0"/>
              <a:t>7/22/24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20A38-9BBF-0E6E-9353-0C54B478E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A41DD-6C9F-07EE-4D1F-B67A0E2AE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9A2B3-455E-C547-A4AC-6BDFB6163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637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3463CD-6FA9-A818-FA27-FBEBA8209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F7995-9EE7-E108-6E78-99A8049AE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EF2C4-FBD6-A197-AC16-A48CAEF7D6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25C0B-691E-BA44-9361-9F7EC1D8832F}" type="datetimeFigureOut">
              <a:rPr lang="en-US" smtClean="0"/>
              <a:t>7/22/24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28ADE-5862-D37D-F46C-027BC13E2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FC2EE-0EB1-82D3-0968-6EE1F17EF4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9A2B3-455E-C547-A4AC-6BDFB6163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28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2.svg"/><Relationship Id="rId10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67AE157-B09E-3151-73CF-2398E84363AA}"/>
              </a:ext>
            </a:extLst>
          </p:cNvPr>
          <p:cNvSpPr/>
          <p:nvPr/>
        </p:nvSpPr>
        <p:spPr>
          <a:xfrm>
            <a:off x="153910" y="2552659"/>
            <a:ext cx="1765300" cy="890588"/>
          </a:xfrm>
          <a:prstGeom prst="rect">
            <a:avLst/>
          </a:prstGeom>
          <a:noFill/>
          <a:ln w="15875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126D86-3942-D24E-BAA2-B3B9DACFB75F}"/>
              </a:ext>
            </a:extLst>
          </p:cNvPr>
          <p:cNvSpPr txBox="1"/>
          <p:nvPr/>
        </p:nvSpPr>
        <p:spPr>
          <a:xfrm>
            <a:off x="512442" y="2958924"/>
            <a:ext cx="1048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Web App</a:t>
            </a: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56903E92-88C5-AB84-C193-D41CCFC9C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30060" y="6347983"/>
            <a:ext cx="2279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Bedrock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Claude 3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049E3DB-0113-9E03-9E72-A8BB5545E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520" y="5501522"/>
            <a:ext cx="688524" cy="688524"/>
          </a:xfrm>
          <a:prstGeom prst="rect">
            <a:avLst/>
          </a:prstGeom>
        </p:spPr>
      </p:pic>
      <p:sp>
        <p:nvSpPr>
          <p:cNvPr id="10" name="TextBox 12">
            <a:extLst>
              <a:ext uri="{FF2B5EF4-FFF2-40B4-BE49-F238E27FC236}">
                <a16:creationId xmlns:a16="http://schemas.microsoft.com/office/drawing/2014/main" id="{1C247B2F-483F-7E46-6ACA-0970D6D8F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9503" y="5241601"/>
            <a:ext cx="2279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Agents for Amazon Bedrock</a:t>
            </a:r>
          </a:p>
          <a:p>
            <a:pPr algn="ctr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Claude 2.1</a:t>
            </a:r>
          </a:p>
        </p:txBody>
      </p:sp>
      <p:pic>
        <p:nvPicPr>
          <p:cNvPr id="11" name="lambda" descr="Lambda service icon.">
            <a:extLst>
              <a:ext uri="{FF2B5EF4-FFF2-40B4-BE49-F238E27FC236}">
                <a16:creationId xmlns:a16="http://schemas.microsoft.com/office/drawing/2014/main" id="{2BD0E8D6-30D1-7C48-5F29-2FF4ED6BC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auto">
          <a:xfrm>
            <a:off x="7171264" y="448105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label5">
            <a:extLst>
              <a:ext uri="{FF2B5EF4-FFF2-40B4-BE49-F238E27FC236}">
                <a16:creationId xmlns:a16="http://schemas.microsoft.com/office/drawing/2014/main" id="{EC200D37-E0D5-2770-F31B-14F24B8E9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8598" y="5240014"/>
            <a:ext cx="15065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AWS Lambda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Bot Actions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75EC16-CC5B-68D6-3FA5-AF061D13B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6924" y="4644061"/>
            <a:ext cx="22796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5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/action</a:t>
            </a:r>
          </a:p>
        </p:txBody>
      </p:sp>
      <p:pic>
        <p:nvPicPr>
          <p:cNvPr id="15" name="Graphic 21" descr="AWS CloudFormation service icon.">
            <a:extLst>
              <a:ext uri="{FF2B5EF4-FFF2-40B4-BE49-F238E27FC236}">
                <a16:creationId xmlns:a16="http://schemas.microsoft.com/office/drawing/2014/main" id="{EDAA020B-43B5-8A65-CC85-C7BFE342E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 bwMode="auto">
          <a:xfrm>
            <a:off x="10264704" y="5588399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2">
            <a:extLst>
              <a:ext uri="{FF2B5EF4-FFF2-40B4-BE49-F238E27FC236}">
                <a16:creationId xmlns:a16="http://schemas.microsoft.com/office/drawing/2014/main" id="{CF79A41C-A184-0FAD-5815-58C4E6651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16992" y="6350399"/>
            <a:ext cx="2279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CloudFormation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601092-3206-008D-2636-CF86CE2DA241}"/>
              </a:ext>
            </a:extLst>
          </p:cNvPr>
          <p:cNvSpPr txBox="1"/>
          <p:nvPr/>
        </p:nvSpPr>
        <p:spPr>
          <a:xfrm rot="1569862">
            <a:off x="8662894" y="5272661"/>
            <a:ext cx="1303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dirty="0">
                <a:solidFill>
                  <a:srgbClr val="333333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100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alidateTemplate()</a:t>
            </a:r>
          </a:p>
        </p:txBody>
      </p:sp>
      <p:cxnSp>
        <p:nvCxnSpPr>
          <p:cNvPr id="19" name="Straight Arrow Connector 18" descr="Double pointing horizontal arrow.">
            <a:extLst>
              <a:ext uri="{FF2B5EF4-FFF2-40B4-BE49-F238E27FC236}">
                <a16:creationId xmlns:a16="http://schemas.microsoft.com/office/drawing/2014/main" id="{407FBF27-5A91-800A-03C4-1947A196FEDD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5676923" y="4862051"/>
            <a:ext cx="1494341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 descr="Double pointing horizontal arrow.">
            <a:extLst>
              <a:ext uri="{FF2B5EF4-FFF2-40B4-BE49-F238E27FC236}">
                <a16:creationId xmlns:a16="http://schemas.microsoft.com/office/drawing/2014/main" id="{AB7075E3-F81D-009C-F541-45B75B56A6B7}"/>
              </a:ext>
            </a:extLst>
          </p:cNvPr>
          <p:cNvCxnSpPr>
            <a:cxnSpLocks/>
            <a:stCxn id="11" idx="3"/>
            <a:endCxn id="15" idx="1"/>
          </p:cNvCxnSpPr>
          <p:nvPr/>
        </p:nvCxnSpPr>
        <p:spPr>
          <a:xfrm>
            <a:off x="7933264" y="4862051"/>
            <a:ext cx="2331440" cy="1107348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aphic 4281">
            <a:extLst>
              <a:ext uri="{FF2B5EF4-FFF2-40B4-BE49-F238E27FC236}">
                <a16:creationId xmlns:a16="http://schemas.microsoft.com/office/drawing/2014/main" id="{685B5667-89EE-B296-46EF-28EBC2B2DBBF}"/>
              </a:ext>
            </a:extLst>
          </p:cNvPr>
          <p:cNvGrpSpPr>
            <a:grpSpLocks noChangeAspect="1"/>
          </p:cNvGrpSpPr>
          <p:nvPr/>
        </p:nvGrpSpPr>
        <p:grpSpPr>
          <a:xfrm>
            <a:off x="5005083" y="4176653"/>
            <a:ext cx="758952" cy="1080650"/>
            <a:chOff x="3596365" y="1854836"/>
            <a:chExt cx="400718" cy="570571"/>
          </a:xfrm>
          <a:noFill/>
        </p:grpSpPr>
        <p:sp>
          <p:nvSpPr>
            <p:cNvPr id="22" name="Freeform: Shape 662">
              <a:extLst>
                <a:ext uri="{FF2B5EF4-FFF2-40B4-BE49-F238E27FC236}">
                  <a16:creationId xmlns:a16="http://schemas.microsoft.com/office/drawing/2014/main" id="{25A42BE6-B0B8-52F5-51E4-B2E7811A191E}"/>
                </a:ext>
              </a:extLst>
            </p:cNvPr>
            <p:cNvSpPr/>
            <p:nvPr/>
          </p:nvSpPr>
          <p:spPr>
            <a:xfrm>
              <a:off x="3796705" y="1854836"/>
              <a:ext cx="176428" cy="352819"/>
            </a:xfrm>
            <a:custGeom>
              <a:avLst/>
              <a:gdLst>
                <a:gd name="connsiteX0" fmla="*/ 44126 w 176428"/>
                <a:gd name="connsiteY0" fmla="*/ 147024 h 352819"/>
                <a:gd name="connsiteX1" fmla="*/ 0 w 176428"/>
                <a:gd name="connsiteY1" fmla="*/ 117619 h 352819"/>
                <a:gd name="connsiteX2" fmla="*/ 0 w 176428"/>
                <a:gd name="connsiteY2" fmla="*/ 29405 h 352819"/>
                <a:gd name="connsiteX3" fmla="*/ 44126 w 176428"/>
                <a:gd name="connsiteY3" fmla="*/ 0 h 352819"/>
                <a:gd name="connsiteX4" fmla="*/ 132340 w 176428"/>
                <a:gd name="connsiteY4" fmla="*/ 52719 h 352819"/>
                <a:gd name="connsiteX5" fmla="*/ 132340 w 176428"/>
                <a:gd name="connsiteY5" fmla="*/ 109885 h 352819"/>
                <a:gd name="connsiteX6" fmla="*/ 176428 w 176428"/>
                <a:gd name="connsiteY6" fmla="*/ 134918 h 352819"/>
                <a:gd name="connsiteX7" fmla="*/ 176428 w 176428"/>
                <a:gd name="connsiteY7" fmla="*/ 178334 h 352819"/>
                <a:gd name="connsiteX8" fmla="*/ 176428 w 176428"/>
                <a:gd name="connsiteY8" fmla="*/ 220517 h 352819"/>
                <a:gd name="connsiteX9" fmla="*/ 132340 w 176428"/>
                <a:gd name="connsiteY9" fmla="*/ 249921 h 352819"/>
                <a:gd name="connsiteX10" fmla="*/ 132340 w 176428"/>
                <a:gd name="connsiteY10" fmla="*/ 301370 h 352819"/>
                <a:gd name="connsiteX11" fmla="*/ 44126 w 176428"/>
                <a:gd name="connsiteY11" fmla="*/ 352819 h 352819"/>
                <a:gd name="connsiteX12" fmla="*/ 0 w 176428"/>
                <a:gd name="connsiteY12" fmla="*/ 330775 h 35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6428" h="352819">
                  <a:moveTo>
                    <a:pt x="44126" y="147024"/>
                  </a:moveTo>
                  <a:lnTo>
                    <a:pt x="0" y="117619"/>
                  </a:lnTo>
                  <a:lnTo>
                    <a:pt x="0" y="29405"/>
                  </a:lnTo>
                  <a:lnTo>
                    <a:pt x="44126" y="0"/>
                  </a:lnTo>
                  <a:lnTo>
                    <a:pt x="132340" y="52719"/>
                  </a:lnTo>
                  <a:lnTo>
                    <a:pt x="132340" y="109885"/>
                  </a:lnTo>
                  <a:lnTo>
                    <a:pt x="176428" y="134918"/>
                  </a:lnTo>
                  <a:lnTo>
                    <a:pt x="176428" y="178334"/>
                  </a:lnTo>
                  <a:lnTo>
                    <a:pt x="176428" y="220517"/>
                  </a:lnTo>
                  <a:lnTo>
                    <a:pt x="132340" y="249921"/>
                  </a:lnTo>
                  <a:lnTo>
                    <a:pt x="132340" y="301370"/>
                  </a:lnTo>
                  <a:lnTo>
                    <a:pt x="44126" y="352819"/>
                  </a:lnTo>
                  <a:lnTo>
                    <a:pt x="0" y="330775"/>
                  </a:lnTo>
                </a:path>
              </a:pathLst>
            </a:custGeom>
            <a:grpFill/>
            <a:ln w="12700" cap="flat">
              <a:solidFill>
                <a:srgbClr val="01A98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23" name="Freeform: Shape 663">
              <a:extLst>
                <a:ext uri="{FF2B5EF4-FFF2-40B4-BE49-F238E27FC236}">
                  <a16:creationId xmlns:a16="http://schemas.microsoft.com/office/drawing/2014/main" id="{04A71BC7-A721-D195-6CB8-CCEFE268BBC8}"/>
                </a:ext>
              </a:extLst>
            </p:cNvPr>
            <p:cNvSpPr/>
            <p:nvPr/>
          </p:nvSpPr>
          <p:spPr>
            <a:xfrm>
              <a:off x="3796705" y="2185499"/>
              <a:ext cx="3736" cy="151096"/>
            </a:xfrm>
            <a:custGeom>
              <a:avLst/>
              <a:gdLst>
                <a:gd name="connsiteX0" fmla="*/ 0 w 3736"/>
                <a:gd name="connsiteY0" fmla="*/ 151096 h 151096"/>
                <a:gd name="connsiteX1" fmla="*/ 0 w 3736"/>
                <a:gd name="connsiteY1" fmla="*/ 0 h 15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36" h="151096">
                  <a:moveTo>
                    <a:pt x="0" y="151096"/>
                  </a:moveTo>
                  <a:lnTo>
                    <a:pt x="0" y="0"/>
                  </a:ln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24" name="Freeform: Shape 664">
              <a:extLst>
                <a:ext uri="{FF2B5EF4-FFF2-40B4-BE49-F238E27FC236}">
                  <a16:creationId xmlns:a16="http://schemas.microsoft.com/office/drawing/2014/main" id="{C20D9696-77A3-8C5A-D9E6-4EC56C9CBA3C}"/>
                </a:ext>
              </a:extLst>
            </p:cNvPr>
            <p:cNvSpPr/>
            <p:nvPr/>
          </p:nvSpPr>
          <p:spPr>
            <a:xfrm>
              <a:off x="3631934" y="2269006"/>
              <a:ext cx="329579" cy="67589"/>
            </a:xfrm>
            <a:custGeom>
              <a:avLst/>
              <a:gdLst>
                <a:gd name="connsiteX0" fmla="*/ 0 w 329579"/>
                <a:gd name="connsiteY0" fmla="*/ 67590 h 67589"/>
                <a:gd name="connsiteX1" fmla="*/ 0 w 329579"/>
                <a:gd name="connsiteY1" fmla="*/ 0 h 67589"/>
                <a:gd name="connsiteX2" fmla="*/ 329579 w 329579"/>
                <a:gd name="connsiteY2" fmla="*/ 0 h 67589"/>
                <a:gd name="connsiteX3" fmla="*/ 329579 w 329579"/>
                <a:gd name="connsiteY3" fmla="*/ 67590 h 67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579" h="67589">
                  <a:moveTo>
                    <a:pt x="0" y="67590"/>
                  </a:moveTo>
                  <a:lnTo>
                    <a:pt x="0" y="0"/>
                  </a:lnTo>
                  <a:lnTo>
                    <a:pt x="329579" y="0"/>
                  </a:lnTo>
                  <a:lnTo>
                    <a:pt x="329579" y="67590"/>
                  </a:ln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25" name="Freeform: Shape 665">
              <a:extLst>
                <a:ext uri="{FF2B5EF4-FFF2-40B4-BE49-F238E27FC236}">
                  <a16:creationId xmlns:a16="http://schemas.microsoft.com/office/drawing/2014/main" id="{42F7E855-6B48-6DAA-8353-78086B3D85E0}"/>
                </a:ext>
              </a:extLst>
            </p:cNvPr>
            <p:cNvSpPr/>
            <p:nvPr/>
          </p:nvSpPr>
          <p:spPr>
            <a:xfrm>
              <a:off x="3596365" y="2354268"/>
              <a:ext cx="71139" cy="71139"/>
            </a:xfrm>
            <a:custGeom>
              <a:avLst/>
              <a:gdLst>
                <a:gd name="connsiteX0" fmla="*/ 0 w 71139"/>
                <a:gd name="connsiteY0" fmla="*/ 0 h 71139"/>
                <a:gd name="connsiteX1" fmla="*/ 71139 w 71139"/>
                <a:gd name="connsiteY1" fmla="*/ 0 h 71139"/>
                <a:gd name="connsiteX2" fmla="*/ 71139 w 71139"/>
                <a:gd name="connsiteY2" fmla="*/ 71139 h 71139"/>
                <a:gd name="connsiteX3" fmla="*/ 0 w 71139"/>
                <a:gd name="connsiteY3" fmla="*/ 71139 h 71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139" h="71139">
                  <a:moveTo>
                    <a:pt x="0" y="0"/>
                  </a:moveTo>
                  <a:lnTo>
                    <a:pt x="71139" y="0"/>
                  </a:lnTo>
                  <a:lnTo>
                    <a:pt x="71139" y="71139"/>
                  </a:lnTo>
                  <a:lnTo>
                    <a:pt x="0" y="71139"/>
                  </a:lnTo>
                  <a:close/>
                </a:path>
              </a:pathLst>
            </a:custGeom>
            <a:grpFill/>
            <a:ln w="12700" cap="flat">
              <a:solidFill>
                <a:srgbClr val="01A98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26" name="Freeform: Shape 666">
              <a:extLst>
                <a:ext uri="{FF2B5EF4-FFF2-40B4-BE49-F238E27FC236}">
                  <a16:creationId xmlns:a16="http://schemas.microsoft.com/office/drawing/2014/main" id="{699ADE5E-29EE-51F8-A4F2-62782EA4E387}"/>
                </a:ext>
              </a:extLst>
            </p:cNvPr>
            <p:cNvSpPr/>
            <p:nvPr/>
          </p:nvSpPr>
          <p:spPr>
            <a:xfrm>
              <a:off x="3750861" y="2354268"/>
              <a:ext cx="91726" cy="71139"/>
            </a:xfrm>
            <a:custGeom>
              <a:avLst/>
              <a:gdLst>
                <a:gd name="connsiteX0" fmla="*/ 91726 w 91726"/>
                <a:gd name="connsiteY0" fmla="*/ 71139 h 71139"/>
                <a:gd name="connsiteX1" fmla="*/ 0 w 91726"/>
                <a:gd name="connsiteY1" fmla="*/ 71139 h 71139"/>
                <a:gd name="connsiteX2" fmla="*/ 45844 w 91726"/>
                <a:gd name="connsiteY2" fmla="*/ 0 h 71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1726" h="71139">
                  <a:moveTo>
                    <a:pt x="91726" y="71139"/>
                  </a:moveTo>
                  <a:lnTo>
                    <a:pt x="0" y="71139"/>
                  </a:lnTo>
                  <a:lnTo>
                    <a:pt x="45844" y="0"/>
                  </a:lnTo>
                  <a:close/>
                </a:path>
              </a:pathLst>
            </a:custGeom>
            <a:grpFill/>
            <a:ln w="12700" cap="flat">
              <a:solidFill>
                <a:srgbClr val="01A98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27" name="Freeform: Shape 667">
              <a:extLst>
                <a:ext uri="{FF2B5EF4-FFF2-40B4-BE49-F238E27FC236}">
                  <a16:creationId xmlns:a16="http://schemas.microsoft.com/office/drawing/2014/main" id="{265D06AF-D604-F3CE-BE7B-6350D155618D}"/>
                </a:ext>
              </a:extLst>
            </p:cNvPr>
            <p:cNvSpPr/>
            <p:nvPr/>
          </p:nvSpPr>
          <p:spPr>
            <a:xfrm>
              <a:off x="3925944" y="2354268"/>
              <a:ext cx="71139" cy="71139"/>
            </a:xfrm>
            <a:custGeom>
              <a:avLst/>
              <a:gdLst>
                <a:gd name="connsiteX0" fmla="*/ 35570 w 71139"/>
                <a:gd name="connsiteY0" fmla="*/ 71139 h 71139"/>
                <a:gd name="connsiteX1" fmla="*/ 35570 w 71139"/>
                <a:gd name="connsiteY1" fmla="*/ 71139 h 71139"/>
                <a:gd name="connsiteX2" fmla="*/ 0 w 71139"/>
                <a:gd name="connsiteY2" fmla="*/ 35570 h 71139"/>
                <a:gd name="connsiteX3" fmla="*/ 0 w 71139"/>
                <a:gd name="connsiteY3" fmla="*/ 35570 h 71139"/>
                <a:gd name="connsiteX4" fmla="*/ 35570 w 71139"/>
                <a:gd name="connsiteY4" fmla="*/ 0 h 71139"/>
                <a:gd name="connsiteX5" fmla="*/ 35570 w 71139"/>
                <a:gd name="connsiteY5" fmla="*/ 0 h 71139"/>
                <a:gd name="connsiteX6" fmla="*/ 71139 w 71139"/>
                <a:gd name="connsiteY6" fmla="*/ 35570 h 71139"/>
                <a:gd name="connsiteX7" fmla="*/ 71139 w 71139"/>
                <a:gd name="connsiteY7" fmla="*/ 35570 h 71139"/>
                <a:gd name="connsiteX8" fmla="*/ 35570 w 71139"/>
                <a:gd name="connsiteY8" fmla="*/ 71139 h 71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139" h="71139">
                  <a:moveTo>
                    <a:pt x="35570" y="71139"/>
                  </a:moveTo>
                  <a:lnTo>
                    <a:pt x="35570" y="71139"/>
                  </a:lnTo>
                  <a:cubicBezTo>
                    <a:pt x="15917" y="71139"/>
                    <a:pt x="0" y="55223"/>
                    <a:pt x="0" y="35570"/>
                  </a:cubicBezTo>
                  <a:lnTo>
                    <a:pt x="0" y="35570"/>
                  </a:lnTo>
                  <a:cubicBezTo>
                    <a:pt x="0" y="15917"/>
                    <a:pt x="15917" y="0"/>
                    <a:pt x="35570" y="0"/>
                  </a:cubicBezTo>
                  <a:lnTo>
                    <a:pt x="35570" y="0"/>
                  </a:lnTo>
                  <a:cubicBezTo>
                    <a:pt x="55223" y="0"/>
                    <a:pt x="71139" y="15917"/>
                    <a:pt x="71139" y="35570"/>
                  </a:cubicBezTo>
                  <a:lnTo>
                    <a:pt x="71139" y="35570"/>
                  </a:lnTo>
                  <a:cubicBezTo>
                    <a:pt x="71139" y="55223"/>
                    <a:pt x="55185" y="71139"/>
                    <a:pt x="35570" y="71139"/>
                  </a:cubicBezTo>
                  <a:close/>
                </a:path>
              </a:pathLst>
            </a:custGeom>
            <a:grpFill/>
            <a:ln w="12700" cap="flat">
              <a:solidFill>
                <a:srgbClr val="01A98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28" name="Freeform: Shape 668">
              <a:extLst>
                <a:ext uri="{FF2B5EF4-FFF2-40B4-BE49-F238E27FC236}">
                  <a16:creationId xmlns:a16="http://schemas.microsoft.com/office/drawing/2014/main" id="{7DA9D9A2-0239-DAA3-9869-F621E8B2F037}"/>
                </a:ext>
              </a:extLst>
            </p:cNvPr>
            <p:cNvSpPr/>
            <p:nvPr/>
          </p:nvSpPr>
          <p:spPr>
            <a:xfrm>
              <a:off x="3708528" y="1921006"/>
              <a:ext cx="44088" cy="112163"/>
            </a:xfrm>
            <a:custGeom>
              <a:avLst/>
              <a:gdLst>
                <a:gd name="connsiteX0" fmla="*/ 0 w 44088"/>
                <a:gd name="connsiteY0" fmla="*/ 112164 h 112163"/>
                <a:gd name="connsiteX1" fmla="*/ 0 w 44088"/>
                <a:gd name="connsiteY1" fmla="*/ 66133 h 112163"/>
                <a:gd name="connsiteX2" fmla="*/ 44088 w 44088"/>
                <a:gd name="connsiteY2" fmla="*/ 44088 h 112163"/>
                <a:gd name="connsiteX3" fmla="*/ 44088 w 44088"/>
                <a:gd name="connsiteY3" fmla="*/ 0 h 112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88" h="112163">
                  <a:moveTo>
                    <a:pt x="0" y="112164"/>
                  </a:moveTo>
                  <a:lnTo>
                    <a:pt x="0" y="66133"/>
                  </a:lnTo>
                  <a:lnTo>
                    <a:pt x="44088" y="44088"/>
                  </a:lnTo>
                  <a:lnTo>
                    <a:pt x="44088" y="0"/>
                  </a:ln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29" name="Freeform: Shape 669">
              <a:extLst>
                <a:ext uri="{FF2B5EF4-FFF2-40B4-BE49-F238E27FC236}">
                  <a16:creationId xmlns:a16="http://schemas.microsoft.com/office/drawing/2014/main" id="{1218826A-C216-E2A9-C338-D55A5BD41418}"/>
                </a:ext>
              </a:extLst>
            </p:cNvPr>
            <p:cNvSpPr/>
            <p:nvPr/>
          </p:nvSpPr>
          <p:spPr>
            <a:xfrm>
              <a:off x="3664403" y="1965095"/>
              <a:ext cx="44125" cy="22044"/>
            </a:xfrm>
            <a:custGeom>
              <a:avLst/>
              <a:gdLst>
                <a:gd name="connsiteX0" fmla="*/ 44126 w 44125"/>
                <a:gd name="connsiteY0" fmla="*/ 22044 h 22044"/>
                <a:gd name="connsiteX1" fmla="*/ 0 w 44125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125" h="22044">
                  <a:moveTo>
                    <a:pt x="44126" y="22044"/>
                  </a:moveTo>
                  <a:lnTo>
                    <a:pt x="0" y="0"/>
                  </a:ln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30" name="Freeform: Shape 670">
              <a:extLst>
                <a:ext uri="{FF2B5EF4-FFF2-40B4-BE49-F238E27FC236}">
                  <a16:creationId xmlns:a16="http://schemas.microsoft.com/office/drawing/2014/main" id="{4E4EB139-8478-A794-CEE3-8B4F0DDC4DCE}"/>
                </a:ext>
              </a:extLst>
            </p:cNvPr>
            <p:cNvSpPr/>
            <p:nvPr/>
          </p:nvSpPr>
          <p:spPr>
            <a:xfrm>
              <a:off x="3708528" y="1881514"/>
              <a:ext cx="3736" cy="54176"/>
            </a:xfrm>
            <a:custGeom>
              <a:avLst/>
              <a:gdLst>
                <a:gd name="connsiteX0" fmla="*/ 0 w 3736"/>
                <a:gd name="connsiteY0" fmla="*/ 54176 h 54176"/>
                <a:gd name="connsiteX1" fmla="*/ 0 w 3736"/>
                <a:gd name="connsiteY1" fmla="*/ 0 h 5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36" h="54176">
                  <a:moveTo>
                    <a:pt x="0" y="54176"/>
                  </a:moveTo>
                  <a:lnTo>
                    <a:pt x="0" y="0"/>
                  </a:ln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31" name="Freeform: Shape 671">
              <a:extLst>
                <a:ext uri="{FF2B5EF4-FFF2-40B4-BE49-F238E27FC236}">
                  <a16:creationId xmlns:a16="http://schemas.microsoft.com/office/drawing/2014/main" id="{E21FFF0B-E155-E467-3C46-2644FF11B564}"/>
                </a:ext>
              </a:extLst>
            </p:cNvPr>
            <p:cNvSpPr/>
            <p:nvPr/>
          </p:nvSpPr>
          <p:spPr>
            <a:xfrm>
              <a:off x="3620314" y="2008623"/>
              <a:ext cx="42481" cy="24995"/>
            </a:xfrm>
            <a:custGeom>
              <a:avLst/>
              <a:gdLst>
                <a:gd name="connsiteX0" fmla="*/ 0 w 42481"/>
                <a:gd name="connsiteY0" fmla="*/ 24996 h 24995"/>
                <a:gd name="connsiteX1" fmla="*/ 42482 w 42481"/>
                <a:gd name="connsiteY1" fmla="*/ 0 h 24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481" h="24995">
                  <a:moveTo>
                    <a:pt x="0" y="24996"/>
                  </a:moveTo>
                  <a:lnTo>
                    <a:pt x="42482" y="0"/>
                  </a:ln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32" name="Freeform: Shape 672">
              <a:extLst>
                <a:ext uri="{FF2B5EF4-FFF2-40B4-BE49-F238E27FC236}">
                  <a16:creationId xmlns:a16="http://schemas.microsoft.com/office/drawing/2014/main" id="{8D07239E-CD14-6933-F8FF-A6EBDFD0A564}"/>
                </a:ext>
              </a:extLst>
            </p:cNvPr>
            <p:cNvSpPr/>
            <p:nvPr/>
          </p:nvSpPr>
          <p:spPr>
            <a:xfrm>
              <a:off x="3664403" y="2075353"/>
              <a:ext cx="44125" cy="29404"/>
            </a:xfrm>
            <a:custGeom>
              <a:avLst/>
              <a:gdLst>
                <a:gd name="connsiteX0" fmla="*/ 0 w 44125"/>
                <a:gd name="connsiteY0" fmla="*/ 29405 h 29404"/>
                <a:gd name="connsiteX1" fmla="*/ 44126 w 44125"/>
                <a:gd name="connsiteY1" fmla="*/ 0 h 29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125" h="29404">
                  <a:moveTo>
                    <a:pt x="0" y="29405"/>
                  </a:moveTo>
                  <a:lnTo>
                    <a:pt x="44126" y="0"/>
                  </a:ln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33" name="Freeform: Shape 673">
              <a:extLst>
                <a:ext uri="{FF2B5EF4-FFF2-40B4-BE49-F238E27FC236}">
                  <a16:creationId xmlns:a16="http://schemas.microsoft.com/office/drawing/2014/main" id="{4C9569D1-6E32-AB0A-884A-55AFC6334B7F}"/>
                </a:ext>
              </a:extLst>
            </p:cNvPr>
            <p:cNvSpPr/>
            <p:nvPr/>
          </p:nvSpPr>
          <p:spPr>
            <a:xfrm>
              <a:off x="3707557" y="2158710"/>
              <a:ext cx="39642" cy="23351"/>
            </a:xfrm>
            <a:custGeom>
              <a:avLst/>
              <a:gdLst>
                <a:gd name="connsiteX0" fmla="*/ 0 w 39642"/>
                <a:gd name="connsiteY0" fmla="*/ 23352 h 23351"/>
                <a:gd name="connsiteX1" fmla="*/ 39642 w 39642"/>
                <a:gd name="connsiteY1" fmla="*/ 0 h 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642" h="23351">
                  <a:moveTo>
                    <a:pt x="0" y="23352"/>
                  </a:moveTo>
                  <a:lnTo>
                    <a:pt x="39642" y="0"/>
                  </a:ln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34" name="Freeform: Shape 674">
              <a:extLst>
                <a:ext uri="{FF2B5EF4-FFF2-40B4-BE49-F238E27FC236}">
                  <a16:creationId xmlns:a16="http://schemas.microsoft.com/office/drawing/2014/main" id="{0ABDD2E8-A087-95F9-5A5D-032209A9B441}"/>
                </a:ext>
              </a:extLst>
            </p:cNvPr>
            <p:cNvSpPr/>
            <p:nvPr/>
          </p:nvSpPr>
          <p:spPr>
            <a:xfrm>
              <a:off x="3701168" y="2075353"/>
              <a:ext cx="95537" cy="51448"/>
            </a:xfrm>
            <a:custGeom>
              <a:avLst/>
              <a:gdLst>
                <a:gd name="connsiteX0" fmla="*/ 0 w 95537"/>
                <a:gd name="connsiteY0" fmla="*/ 51449 h 51448"/>
                <a:gd name="connsiteX1" fmla="*/ 95537 w 95537"/>
                <a:gd name="connsiteY1" fmla="*/ 0 h 51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537" h="51448">
                  <a:moveTo>
                    <a:pt x="0" y="51449"/>
                  </a:moveTo>
                  <a:lnTo>
                    <a:pt x="95537" y="0"/>
                  </a:ln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35" name="Freeform: Shape 675">
              <a:extLst>
                <a:ext uri="{FF2B5EF4-FFF2-40B4-BE49-F238E27FC236}">
                  <a16:creationId xmlns:a16="http://schemas.microsoft.com/office/drawing/2014/main" id="{7561BB31-6385-6272-7D09-5B67C48D14FE}"/>
                </a:ext>
              </a:extLst>
            </p:cNvPr>
            <p:cNvSpPr/>
            <p:nvPr/>
          </p:nvSpPr>
          <p:spPr>
            <a:xfrm>
              <a:off x="3664403" y="2031265"/>
              <a:ext cx="44125" cy="29367"/>
            </a:xfrm>
            <a:custGeom>
              <a:avLst/>
              <a:gdLst>
                <a:gd name="connsiteX0" fmla="*/ 0 w 44125"/>
                <a:gd name="connsiteY0" fmla="*/ 29367 h 29367"/>
                <a:gd name="connsiteX1" fmla="*/ 44126 w 44125"/>
                <a:gd name="connsiteY1" fmla="*/ 0 h 2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125" h="29367">
                  <a:moveTo>
                    <a:pt x="0" y="29367"/>
                  </a:moveTo>
                  <a:lnTo>
                    <a:pt x="44126" y="0"/>
                  </a:ln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36" name="Freeform: Shape 676">
              <a:extLst>
                <a:ext uri="{FF2B5EF4-FFF2-40B4-BE49-F238E27FC236}">
                  <a16:creationId xmlns:a16="http://schemas.microsoft.com/office/drawing/2014/main" id="{9EB6A918-4963-703B-62E7-E9C8A5405E93}"/>
                </a:ext>
              </a:extLst>
            </p:cNvPr>
            <p:cNvSpPr/>
            <p:nvPr/>
          </p:nvSpPr>
          <p:spPr>
            <a:xfrm>
              <a:off x="3708528" y="2031265"/>
              <a:ext cx="44088" cy="66132"/>
            </a:xfrm>
            <a:custGeom>
              <a:avLst/>
              <a:gdLst>
                <a:gd name="connsiteX0" fmla="*/ 44088 w 44088"/>
                <a:gd name="connsiteY0" fmla="*/ 66133 h 66132"/>
                <a:gd name="connsiteX1" fmla="*/ 44088 w 44088"/>
                <a:gd name="connsiteY1" fmla="*/ 29367 h 66132"/>
                <a:gd name="connsiteX2" fmla="*/ 0 w 44088"/>
                <a:gd name="connsiteY2" fmla="*/ 0 h 66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088" h="66132">
                  <a:moveTo>
                    <a:pt x="44088" y="66133"/>
                  </a:moveTo>
                  <a:lnTo>
                    <a:pt x="44088" y="29367"/>
                  </a:lnTo>
                  <a:lnTo>
                    <a:pt x="0" y="0"/>
                  </a:ln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37" name="Freeform: Shape 677">
              <a:extLst>
                <a:ext uri="{FF2B5EF4-FFF2-40B4-BE49-F238E27FC236}">
                  <a16:creationId xmlns:a16="http://schemas.microsoft.com/office/drawing/2014/main" id="{50AB2DDA-FE15-19BD-5952-AED97AB92A45}"/>
                </a:ext>
              </a:extLst>
            </p:cNvPr>
            <p:cNvSpPr/>
            <p:nvPr/>
          </p:nvSpPr>
          <p:spPr>
            <a:xfrm>
              <a:off x="3929045" y="2053309"/>
              <a:ext cx="44088" cy="22044"/>
            </a:xfrm>
            <a:custGeom>
              <a:avLst/>
              <a:gdLst>
                <a:gd name="connsiteX0" fmla="*/ 0 w 44088"/>
                <a:gd name="connsiteY0" fmla="*/ 0 h 22044"/>
                <a:gd name="connsiteX1" fmla="*/ 44088 w 44088"/>
                <a:gd name="connsiteY1" fmla="*/ 22044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088" h="22044">
                  <a:moveTo>
                    <a:pt x="0" y="0"/>
                  </a:moveTo>
                  <a:lnTo>
                    <a:pt x="44088" y="22044"/>
                  </a:lnTo>
                </a:path>
              </a:pathLst>
            </a:custGeom>
            <a:grpFill/>
            <a:ln w="12700" cap="flat">
              <a:solidFill>
                <a:srgbClr val="01A98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38" name="Freeform: Shape 678">
              <a:extLst>
                <a:ext uri="{FF2B5EF4-FFF2-40B4-BE49-F238E27FC236}">
                  <a16:creationId xmlns:a16="http://schemas.microsoft.com/office/drawing/2014/main" id="{0A748657-D824-7F8D-E5CA-5A141FC68021}"/>
                </a:ext>
              </a:extLst>
            </p:cNvPr>
            <p:cNvSpPr/>
            <p:nvPr/>
          </p:nvSpPr>
          <p:spPr>
            <a:xfrm>
              <a:off x="3899640" y="1935690"/>
              <a:ext cx="29404" cy="3736"/>
            </a:xfrm>
            <a:custGeom>
              <a:avLst/>
              <a:gdLst>
                <a:gd name="connsiteX0" fmla="*/ 29405 w 29404"/>
                <a:gd name="connsiteY0" fmla="*/ 0 h 3736"/>
                <a:gd name="connsiteX1" fmla="*/ 0 w 29404"/>
                <a:gd name="connsiteY1" fmla="*/ 0 h 3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404" h="3736">
                  <a:moveTo>
                    <a:pt x="29405" y="0"/>
                  </a:moveTo>
                  <a:lnTo>
                    <a:pt x="0" y="0"/>
                  </a:lnTo>
                </a:path>
              </a:pathLst>
            </a:custGeom>
            <a:grpFill/>
            <a:ln w="12700" cap="flat">
              <a:solidFill>
                <a:srgbClr val="01A98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39" name="Freeform: Shape 679">
              <a:extLst>
                <a:ext uri="{FF2B5EF4-FFF2-40B4-BE49-F238E27FC236}">
                  <a16:creationId xmlns:a16="http://schemas.microsoft.com/office/drawing/2014/main" id="{2E0923DD-883F-E5E2-A3B5-9A461418BC27}"/>
                </a:ext>
              </a:extLst>
            </p:cNvPr>
            <p:cNvSpPr/>
            <p:nvPr/>
          </p:nvSpPr>
          <p:spPr>
            <a:xfrm>
              <a:off x="3796705" y="2134162"/>
              <a:ext cx="44125" cy="3736"/>
            </a:xfrm>
            <a:custGeom>
              <a:avLst/>
              <a:gdLst>
                <a:gd name="connsiteX0" fmla="*/ 0 w 44125"/>
                <a:gd name="connsiteY0" fmla="*/ 0 h 3736"/>
                <a:gd name="connsiteX1" fmla="*/ 44126 w 44125"/>
                <a:gd name="connsiteY1" fmla="*/ 0 h 3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125" h="3736">
                  <a:moveTo>
                    <a:pt x="0" y="0"/>
                  </a:moveTo>
                  <a:lnTo>
                    <a:pt x="44126" y="0"/>
                  </a:lnTo>
                </a:path>
              </a:pathLst>
            </a:custGeom>
            <a:grpFill/>
            <a:ln w="12700" cap="flat">
              <a:solidFill>
                <a:srgbClr val="01A98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40" name="Freeform: Shape 680">
              <a:extLst>
                <a:ext uri="{FF2B5EF4-FFF2-40B4-BE49-F238E27FC236}">
                  <a16:creationId xmlns:a16="http://schemas.microsoft.com/office/drawing/2014/main" id="{F8C28484-ADDF-B86F-61CC-D84C7AD2301D}"/>
                </a:ext>
              </a:extLst>
            </p:cNvPr>
            <p:cNvSpPr/>
            <p:nvPr/>
          </p:nvSpPr>
          <p:spPr>
            <a:xfrm>
              <a:off x="3870236" y="1921006"/>
              <a:ext cx="29367" cy="29367"/>
            </a:xfrm>
            <a:custGeom>
              <a:avLst/>
              <a:gdLst>
                <a:gd name="connsiteX0" fmla="*/ 29367 w 29367"/>
                <a:gd name="connsiteY0" fmla="*/ 14684 h 29367"/>
                <a:gd name="connsiteX1" fmla="*/ 14684 w 29367"/>
                <a:gd name="connsiteY1" fmla="*/ 29367 h 29367"/>
                <a:gd name="connsiteX2" fmla="*/ 0 w 29367"/>
                <a:gd name="connsiteY2" fmla="*/ 14684 h 29367"/>
                <a:gd name="connsiteX3" fmla="*/ 14684 w 29367"/>
                <a:gd name="connsiteY3" fmla="*/ 0 h 29367"/>
                <a:gd name="connsiteX4" fmla="*/ 29367 w 29367"/>
                <a:gd name="connsiteY4" fmla="*/ 14684 h 2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7" h="29367">
                  <a:moveTo>
                    <a:pt x="29367" y="14684"/>
                  </a:moveTo>
                  <a:cubicBezTo>
                    <a:pt x="29367" y="22793"/>
                    <a:pt x="22793" y="29367"/>
                    <a:pt x="14684" y="29367"/>
                  </a:cubicBezTo>
                  <a:cubicBezTo>
                    <a:pt x="6574" y="29367"/>
                    <a:pt x="0" y="22793"/>
                    <a:pt x="0" y="14684"/>
                  </a:cubicBezTo>
                  <a:cubicBezTo>
                    <a:pt x="0" y="6574"/>
                    <a:pt x="6574" y="0"/>
                    <a:pt x="14684" y="0"/>
                  </a:cubicBezTo>
                  <a:cubicBezTo>
                    <a:pt x="22793" y="0"/>
                    <a:pt x="29367" y="6574"/>
                    <a:pt x="29367" y="14684"/>
                  </a:cubicBezTo>
                  <a:close/>
                </a:path>
              </a:pathLst>
            </a:custGeom>
            <a:grpFill/>
            <a:ln w="12700" cap="flat">
              <a:solidFill>
                <a:srgbClr val="01A98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41" name="Freeform: Shape 681">
              <a:extLst>
                <a:ext uri="{FF2B5EF4-FFF2-40B4-BE49-F238E27FC236}">
                  <a16:creationId xmlns:a16="http://schemas.microsoft.com/office/drawing/2014/main" id="{ECC7B38B-FBC1-C2BA-5417-46A31BB7DB4E}"/>
                </a:ext>
              </a:extLst>
            </p:cNvPr>
            <p:cNvSpPr/>
            <p:nvPr/>
          </p:nvSpPr>
          <p:spPr>
            <a:xfrm>
              <a:off x="3899640" y="2031265"/>
              <a:ext cx="29367" cy="29367"/>
            </a:xfrm>
            <a:custGeom>
              <a:avLst/>
              <a:gdLst>
                <a:gd name="connsiteX0" fmla="*/ 29367 w 29367"/>
                <a:gd name="connsiteY0" fmla="*/ 14684 h 29367"/>
                <a:gd name="connsiteX1" fmla="*/ 14684 w 29367"/>
                <a:gd name="connsiteY1" fmla="*/ 29367 h 29367"/>
                <a:gd name="connsiteX2" fmla="*/ 0 w 29367"/>
                <a:gd name="connsiteY2" fmla="*/ 14684 h 29367"/>
                <a:gd name="connsiteX3" fmla="*/ 14684 w 29367"/>
                <a:gd name="connsiteY3" fmla="*/ 0 h 29367"/>
                <a:gd name="connsiteX4" fmla="*/ 29367 w 29367"/>
                <a:gd name="connsiteY4" fmla="*/ 14684 h 2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7" h="29367">
                  <a:moveTo>
                    <a:pt x="29367" y="14684"/>
                  </a:moveTo>
                  <a:cubicBezTo>
                    <a:pt x="29367" y="22793"/>
                    <a:pt x="22793" y="29367"/>
                    <a:pt x="14684" y="29367"/>
                  </a:cubicBezTo>
                  <a:cubicBezTo>
                    <a:pt x="6574" y="29367"/>
                    <a:pt x="0" y="22793"/>
                    <a:pt x="0" y="14684"/>
                  </a:cubicBezTo>
                  <a:cubicBezTo>
                    <a:pt x="0" y="6574"/>
                    <a:pt x="6574" y="0"/>
                    <a:pt x="14684" y="0"/>
                  </a:cubicBezTo>
                  <a:cubicBezTo>
                    <a:pt x="22793" y="0"/>
                    <a:pt x="29367" y="6574"/>
                    <a:pt x="29367" y="14684"/>
                  </a:cubicBezTo>
                  <a:close/>
                </a:path>
              </a:pathLst>
            </a:custGeom>
            <a:grpFill/>
            <a:ln w="12700" cap="flat">
              <a:solidFill>
                <a:srgbClr val="01A98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42" name="Freeform: Shape 682">
              <a:extLst>
                <a:ext uri="{FF2B5EF4-FFF2-40B4-BE49-F238E27FC236}">
                  <a16:creationId xmlns:a16="http://schemas.microsoft.com/office/drawing/2014/main" id="{38D412E9-D016-9563-08FC-679E3B260CF9}"/>
                </a:ext>
              </a:extLst>
            </p:cNvPr>
            <p:cNvSpPr/>
            <p:nvPr/>
          </p:nvSpPr>
          <p:spPr>
            <a:xfrm>
              <a:off x="3840831" y="1994499"/>
              <a:ext cx="29367" cy="29367"/>
            </a:xfrm>
            <a:custGeom>
              <a:avLst/>
              <a:gdLst>
                <a:gd name="connsiteX0" fmla="*/ 29367 w 29367"/>
                <a:gd name="connsiteY0" fmla="*/ 14684 h 29367"/>
                <a:gd name="connsiteX1" fmla="*/ 14684 w 29367"/>
                <a:gd name="connsiteY1" fmla="*/ 29367 h 29367"/>
                <a:gd name="connsiteX2" fmla="*/ 0 w 29367"/>
                <a:gd name="connsiteY2" fmla="*/ 14684 h 29367"/>
                <a:gd name="connsiteX3" fmla="*/ 14684 w 29367"/>
                <a:gd name="connsiteY3" fmla="*/ 0 h 29367"/>
                <a:gd name="connsiteX4" fmla="*/ 29367 w 29367"/>
                <a:gd name="connsiteY4" fmla="*/ 14684 h 2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7" h="29367">
                  <a:moveTo>
                    <a:pt x="29367" y="14684"/>
                  </a:moveTo>
                  <a:cubicBezTo>
                    <a:pt x="29367" y="22793"/>
                    <a:pt x="22793" y="29367"/>
                    <a:pt x="14684" y="29367"/>
                  </a:cubicBezTo>
                  <a:cubicBezTo>
                    <a:pt x="6574" y="29367"/>
                    <a:pt x="0" y="22793"/>
                    <a:pt x="0" y="14684"/>
                  </a:cubicBezTo>
                  <a:cubicBezTo>
                    <a:pt x="0" y="6574"/>
                    <a:pt x="6574" y="0"/>
                    <a:pt x="14684" y="0"/>
                  </a:cubicBezTo>
                  <a:cubicBezTo>
                    <a:pt x="22793" y="0"/>
                    <a:pt x="29367" y="6574"/>
                    <a:pt x="29367" y="14684"/>
                  </a:cubicBezTo>
                  <a:close/>
                </a:path>
              </a:pathLst>
            </a:custGeom>
            <a:grpFill/>
            <a:ln w="12700" cap="flat">
              <a:solidFill>
                <a:srgbClr val="01A98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43" name="Freeform: Shape 683">
              <a:extLst>
                <a:ext uri="{FF2B5EF4-FFF2-40B4-BE49-F238E27FC236}">
                  <a16:creationId xmlns:a16="http://schemas.microsoft.com/office/drawing/2014/main" id="{0A03A7CA-06A6-181E-11FC-8E42031DBCF2}"/>
                </a:ext>
              </a:extLst>
            </p:cNvPr>
            <p:cNvSpPr/>
            <p:nvPr/>
          </p:nvSpPr>
          <p:spPr>
            <a:xfrm>
              <a:off x="3840831" y="2119479"/>
              <a:ext cx="29367" cy="29367"/>
            </a:xfrm>
            <a:custGeom>
              <a:avLst/>
              <a:gdLst>
                <a:gd name="connsiteX0" fmla="*/ 29367 w 29367"/>
                <a:gd name="connsiteY0" fmla="*/ 14684 h 29367"/>
                <a:gd name="connsiteX1" fmla="*/ 14684 w 29367"/>
                <a:gd name="connsiteY1" fmla="*/ 29367 h 29367"/>
                <a:gd name="connsiteX2" fmla="*/ 0 w 29367"/>
                <a:gd name="connsiteY2" fmla="*/ 14684 h 29367"/>
                <a:gd name="connsiteX3" fmla="*/ 14684 w 29367"/>
                <a:gd name="connsiteY3" fmla="*/ 0 h 29367"/>
                <a:gd name="connsiteX4" fmla="*/ 29367 w 29367"/>
                <a:gd name="connsiteY4" fmla="*/ 14684 h 2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7" h="29367">
                  <a:moveTo>
                    <a:pt x="29367" y="14684"/>
                  </a:moveTo>
                  <a:cubicBezTo>
                    <a:pt x="29367" y="22793"/>
                    <a:pt x="22793" y="29367"/>
                    <a:pt x="14684" y="29367"/>
                  </a:cubicBezTo>
                  <a:cubicBezTo>
                    <a:pt x="6574" y="29367"/>
                    <a:pt x="0" y="22793"/>
                    <a:pt x="0" y="14684"/>
                  </a:cubicBezTo>
                  <a:cubicBezTo>
                    <a:pt x="0" y="6574"/>
                    <a:pt x="6574" y="0"/>
                    <a:pt x="14684" y="0"/>
                  </a:cubicBezTo>
                  <a:cubicBezTo>
                    <a:pt x="22793" y="0"/>
                    <a:pt x="29367" y="6574"/>
                    <a:pt x="29367" y="14684"/>
                  </a:cubicBezTo>
                  <a:close/>
                </a:path>
              </a:pathLst>
            </a:custGeom>
            <a:grpFill/>
            <a:ln w="12700" cap="flat">
              <a:solidFill>
                <a:srgbClr val="01A98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44" name="Freeform: Shape 684">
              <a:extLst>
                <a:ext uri="{FF2B5EF4-FFF2-40B4-BE49-F238E27FC236}">
                  <a16:creationId xmlns:a16="http://schemas.microsoft.com/office/drawing/2014/main" id="{C2D7A9CC-8314-9A41-44FA-F2C564B74A2B}"/>
                </a:ext>
              </a:extLst>
            </p:cNvPr>
            <p:cNvSpPr/>
            <p:nvPr/>
          </p:nvSpPr>
          <p:spPr>
            <a:xfrm>
              <a:off x="3796705" y="2033581"/>
              <a:ext cx="3736" cy="152030"/>
            </a:xfrm>
            <a:custGeom>
              <a:avLst/>
              <a:gdLst>
                <a:gd name="connsiteX0" fmla="*/ 0 w 3736"/>
                <a:gd name="connsiteY0" fmla="*/ 152030 h 152030"/>
                <a:gd name="connsiteX1" fmla="*/ 0 w 3736"/>
                <a:gd name="connsiteY1" fmla="*/ 0 h 152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36" h="152030">
                  <a:moveTo>
                    <a:pt x="0" y="152030"/>
                  </a:moveTo>
                  <a:lnTo>
                    <a:pt x="0" y="0"/>
                  </a:lnTo>
                </a:path>
              </a:pathLst>
            </a:custGeom>
            <a:grpFill/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45" name="Freeform: Shape 685">
              <a:extLst>
                <a:ext uri="{FF2B5EF4-FFF2-40B4-BE49-F238E27FC236}">
                  <a16:creationId xmlns:a16="http://schemas.microsoft.com/office/drawing/2014/main" id="{89D37E79-FF1F-6B20-5033-7723B7167423}"/>
                </a:ext>
              </a:extLst>
            </p:cNvPr>
            <p:cNvSpPr/>
            <p:nvPr/>
          </p:nvSpPr>
          <p:spPr>
            <a:xfrm>
              <a:off x="3620314" y="1854836"/>
              <a:ext cx="176390" cy="352819"/>
            </a:xfrm>
            <a:custGeom>
              <a:avLst/>
              <a:gdLst>
                <a:gd name="connsiteX0" fmla="*/ 176391 w 176390"/>
                <a:gd name="connsiteY0" fmla="*/ 29405 h 352819"/>
                <a:gd name="connsiteX1" fmla="*/ 132303 w 176390"/>
                <a:gd name="connsiteY1" fmla="*/ 0 h 352819"/>
                <a:gd name="connsiteX2" fmla="*/ 44088 w 176390"/>
                <a:gd name="connsiteY2" fmla="*/ 51449 h 352819"/>
                <a:gd name="connsiteX3" fmla="*/ 44088 w 176390"/>
                <a:gd name="connsiteY3" fmla="*/ 109885 h 352819"/>
                <a:gd name="connsiteX4" fmla="*/ 0 w 176390"/>
                <a:gd name="connsiteY4" fmla="*/ 132303 h 352819"/>
                <a:gd name="connsiteX5" fmla="*/ 0 w 176390"/>
                <a:gd name="connsiteY5" fmla="*/ 178334 h 352819"/>
                <a:gd name="connsiteX6" fmla="*/ 0 w 176390"/>
                <a:gd name="connsiteY6" fmla="*/ 220517 h 352819"/>
                <a:gd name="connsiteX7" fmla="*/ 44088 w 176390"/>
                <a:gd name="connsiteY7" fmla="*/ 249921 h 352819"/>
                <a:gd name="connsiteX8" fmla="*/ 44088 w 176390"/>
                <a:gd name="connsiteY8" fmla="*/ 301370 h 352819"/>
                <a:gd name="connsiteX9" fmla="*/ 132303 w 176390"/>
                <a:gd name="connsiteY9" fmla="*/ 352819 h 352819"/>
                <a:gd name="connsiteX10" fmla="*/ 176391 w 176390"/>
                <a:gd name="connsiteY10" fmla="*/ 329206 h 352819"/>
                <a:gd name="connsiteX11" fmla="*/ 176391 w 176390"/>
                <a:gd name="connsiteY11" fmla="*/ 176428 h 352819"/>
                <a:gd name="connsiteX12" fmla="*/ 132303 w 176390"/>
                <a:gd name="connsiteY12" fmla="*/ 154347 h 35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6390" h="352819">
                  <a:moveTo>
                    <a:pt x="176391" y="29405"/>
                  </a:moveTo>
                  <a:lnTo>
                    <a:pt x="132303" y="0"/>
                  </a:lnTo>
                  <a:lnTo>
                    <a:pt x="44088" y="51449"/>
                  </a:lnTo>
                  <a:lnTo>
                    <a:pt x="44088" y="109885"/>
                  </a:lnTo>
                  <a:lnTo>
                    <a:pt x="0" y="132303"/>
                  </a:lnTo>
                  <a:lnTo>
                    <a:pt x="0" y="178334"/>
                  </a:lnTo>
                  <a:lnTo>
                    <a:pt x="0" y="220517"/>
                  </a:lnTo>
                  <a:lnTo>
                    <a:pt x="44088" y="249921"/>
                  </a:lnTo>
                  <a:lnTo>
                    <a:pt x="44088" y="301370"/>
                  </a:lnTo>
                  <a:lnTo>
                    <a:pt x="132303" y="352819"/>
                  </a:lnTo>
                  <a:lnTo>
                    <a:pt x="176391" y="329206"/>
                  </a:lnTo>
                  <a:lnTo>
                    <a:pt x="176391" y="176428"/>
                  </a:lnTo>
                  <a:lnTo>
                    <a:pt x="132303" y="154347"/>
                  </a:ln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</p:grpSp>
      <p:sp>
        <p:nvSpPr>
          <p:cNvPr id="49" name="TextBox 12">
            <a:extLst>
              <a:ext uri="{FF2B5EF4-FFF2-40B4-BE49-F238E27FC236}">
                <a16:creationId xmlns:a16="http://schemas.microsoft.com/office/drawing/2014/main" id="{E109B876-B504-3739-3871-71F1AB9EB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7490" y="3836373"/>
            <a:ext cx="2279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Bedrock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Claude 3</a:t>
            </a:r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00F49385-FF2C-8D5D-B569-A57BD1BEAB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93053" y="3117071"/>
            <a:ext cx="688524" cy="688524"/>
          </a:xfrm>
          <a:prstGeom prst="rect">
            <a:avLst/>
          </a:prstGeom>
        </p:spPr>
      </p:pic>
      <p:cxnSp>
        <p:nvCxnSpPr>
          <p:cNvPr id="54" name="Straight Arrow Connector 53" descr="Double pointing horizontal arrow.">
            <a:extLst>
              <a:ext uri="{FF2B5EF4-FFF2-40B4-BE49-F238E27FC236}">
                <a16:creationId xmlns:a16="http://schemas.microsoft.com/office/drawing/2014/main" id="{B880A4B9-5240-1CAD-C94F-F72E0D120DF9}"/>
              </a:ext>
            </a:extLst>
          </p:cNvPr>
          <p:cNvCxnSpPr>
            <a:cxnSpLocks/>
            <a:stCxn id="11" idx="3"/>
            <a:endCxn id="50" idx="1"/>
          </p:cNvCxnSpPr>
          <p:nvPr/>
        </p:nvCxnSpPr>
        <p:spPr>
          <a:xfrm flipV="1">
            <a:off x="7933264" y="3461333"/>
            <a:ext cx="2359789" cy="1400718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A0E6943B-32A0-7D37-3F47-74E56918FA06}"/>
              </a:ext>
            </a:extLst>
          </p:cNvPr>
          <p:cNvSpPr txBox="1"/>
          <p:nvPr/>
        </p:nvSpPr>
        <p:spPr>
          <a:xfrm rot="19805675">
            <a:off x="8583337" y="3735513"/>
            <a:ext cx="14131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dirty="0">
                <a:solidFill>
                  <a:srgbClr val="333333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Generate</a:t>
            </a:r>
            <a:r>
              <a:rPr lang="en-US" sz="100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</p:txBody>
      </p:sp>
      <p:cxnSp>
        <p:nvCxnSpPr>
          <p:cNvPr id="75" name="Straight Arrow Connector 74" descr="Left pointing horizontal arrow. ">
            <a:extLst>
              <a:ext uri="{FF2B5EF4-FFF2-40B4-BE49-F238E27FC236}">
                <a16:creationId xmlns:a16="http://schemas.microsoft.com/office/drawing/2014/main" id="{BB8533A6-1381-93FD-F2B9-B1404EC170D2}"/>
              </a:ext>
            </a:extLst>
          </p:cNvPr>
          <p:cNvCxnSpPr>
            <a:cxnSpLocks/>
          </p:cNvCxnSpPr>
          <p:nvPr/>
        </p:nvCxnSpPr>
        <p:spPr>
          <a:xfrm flipV="1">
            <a:off x="814033" y="3461333"/>
            <a:ext cx="13004" cy="2142363"/>
          </a:xfrm>
          <a:prstGeom prst="straightConnector1">
            <a:avLst/>
          </a:prstGeom>
          <a:ln w="15875">
            <a:solidFill>
              <a:schemeClr val="accent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 descr="Left pointing horizontal arrow. ">
            <a:extLst>
              <a:ext uri="{FF2B5EF4-FFF2-40B4-BE49-F238E27FC236}">
                <a16:creationId xmlns:a16="http://schemas.microsoft.com/office/drawing/2014/main" id="{E8ED50C1-281F-6A06-0B5C-257A607124C5}"/>
              </a:ext>
            </a:extLst>
          </p:cNvPr>
          <p:cNvCxnSpPr>
            <a:cxnSpLocks/>
          </p:cNvCxnSpPr>
          <p:nvPr/>
        </p:nvCxnSpPr>
        <p:spPr>
          <a:xfrm>
            <a:off x="1226766" y="3443247"/>
            <a:ext cx="0" cy="2160449"/>
          </a:xfrm>
          <a:prstGeom prst="straightConnector1">
            <a:avLst/>
          </a:prstGeom>
          <a:ln w="15875">
            <a:solidFill>
              <a:schemeClr val="accent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4BFC8D7D-5712-D4A5-F55C-4177FD7E053F}"/>
              </a:ext>
            </a:extLst>
          </p:cNvPr>
          <p:cNvSpPr txBox="1"/>
          <p:nvPr/>
        </p:nvSpPr>
        <p:spPr>
          <a:xfrm>
            <a:off x="-1008646" y="4469737"/>
            <a:ext cx="2863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0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architecture</a:t>
            </a:r>
          </a:p>
          <a:p>
            <a:pPr algn="ctr" eaLnBrk="1" hangingPunct="1"/>
            <a:r>
              <a:rPr lang="en-US" altLang="en-US" sz="10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image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B885C4F-E441-DDA3-99AA-3E37F16FC3A7}"/>
              </a:ext>
            </a:extLst>
          </p:cNvPr>
          <p:cNvSpPr txBox="1"/>
          <p:nvPr/>
        </p:nvSpPr>
        <p:spPr>
          <a:xfrm rot="1662464">
            <a:off x="2129328" y="3391885"/>
            <a:ext cx="2863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0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step-by-step </a:t>
            </a:r>
          </a:p>
          <a:p>
            <a:pPr algn="ctr" eaLnBrk="1" hangingPunct="1"/>
            <a:r>
              <a:rPr lang="en-US" altLang="en-US" sz="10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explanation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7D9A6C5-E76F-C795-2A2B-C6D135E3C03C}"/>
              </a:ext>
            </a:extLst>
          </p:cNvPr>
          <p:cNvSpPr txBox="1"/>
          <p:nvPr/>
        </p:nvSpPr>
        <p:spPr>
          <a:xfrm>
            <a:off x="900122" y="4445454"/>
            <a:ext cx="288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cxnSp>
        <p:nvCxnSpPr>
          <p:cNvPr id="87" name="Straight Arrow Connector 86" descr="Left pointing horizontal arrow. ">
            <a:extLst>
              <a:ext uri="{FF2B5EF4-FFF2-40B4-BE49-F238E27FC236}">
                <a16:creationId xmlns:a16="http://schemas.microsoft.com/office/drawing/2014/main" id="{CC5666E2-7459-EA4E-4A0C-0FFC845C1355}"/>
              </a:ext>
            </a:extLst>
          </p:cNvPr>
          <p:cNvCxnSpPr>
            <a:cxnSpLocks/>
          </p:cNvCxnSpPr>
          <p:nvPr/>
        </p:nvCxnSpPr>
        <p:spPr>
          <a:xfrm flipH="1" flipV="1">
            <a:off x="1953367" y="3024171"/>
            <a:ext cx="3105464" cy="1641245"/>
          </a:xfrm>
          <a:prstGeom prst="straightConnector1">
            <a:avLst/>
          </a:prstGeom>
          <a:ln w="15875">
            <a:solidFill>
              <a:schemeClr val="accent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 descr="Left pointing horizontal arrow. ">
            <a:extLst>
              <a:ext uri="{FF2B5EF4-FFF2-40B4-BE49-F238E27FC236}">
                <a16:creationId xmlns:a16="http://schemas.microsoft.com/office/drawing/2014/main" id="{95535090-217F-23BB-BABB-20BDF69E3FBC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1941240" y="3321934"/>
            <a:ext cx="3131210" cy="1639149"/>
          </a:xfrm>
          <a:prstGeom prst="straightConnector1">
            <a:avLst/>
          </a:prstGeom>
          <a:ln w="15875">
            <a:solidFill>
              <a:schemeClr val="accent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9B0752EF-D02A-0878-1F4C-A09D793786BD}"/>
              </a:ext>
            </a:extLst>
          </p:cNvPr>
          <p:cNvSpPr txBox="1"/>
          <p:nvPr/>
        </p:nvSpPr>
        <p:spPr>
          <a:xfrm rot="1707362">
            <a:off x="2686339" y="4156105"/>
            <a:ext cx="13799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streaming trace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5371977-B2BF-2DB3-91E0-C093E6DB30CB}"/>
              </a:ext>
            </a:extLst>
          </p:cNvPr>
          <p:cNvSpPr txBox="1"/>
          <p:nvPr/>
        </p:nvSpPr>
        <p:spPr>
          <a:xfrm>
            <a:off x="3221474" y="3757228"/>
            <a:ext cx="234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C9A6C74-C9CE-EEBF-673D-20819787796C}"/>
              </a:ext>
            </a:extLst>
          </p:cNvPr>
          <p:cNvGrpSpPr/>
          <p:nvPr/>
        </p:nvGrpSpPr>
        <p:grpSpPr>
          <a:xfrm>
            <a:off x="4946982" y="156977"/>
            <a:ext cx="4402182" cy="1920240"/>
            <a:chOff x="6988629" y="1998804"/>
            <a:chExt cx="4402182" cy="1920240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1D688AAB-86B4-9741-9D80-AA09ADB182EE}"/>
                </a:ext>
              </a:extLst>
            </p:cNvPr>
            <p:cNvSpPr/>
            <p:nvPr/>
          </p:nvSpPr>
          <p:spPr>
            <a:xfrm>
              <a:off x="6988629" y="1998804"/>
              <a:ext cx="4402182" cy="1920240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8" name="Graphic 107" descr="Database resource icon for the General Icons category.">
              <a:extLst>
                <a:ext uri="{FF2B5EF4-FFF2-40B4-BE49-F238E27FC236}">
                  <a16:creationId xmlns:a16="http://schemas.microsoft.com/office/drawing/2014/main" id="{EFA00166-B62D-1751-2FAD-42F5E3803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040781" y="2381590"/>
              <a:ext cx="758952" cy="762000"/>
            </a:xfrm>
            <a:prstGeom prst="rect">
              <a:avLst/>
            </a:prstGeom>
          </p:spPr>
        </p:pic>
        <p:sp>
          <p:nvSpPr>
            <p:cNvPr id="109" name="TextBox 28">
              <a:extLst>
                <a:ext uri="{FF2B5EF4-FFF2-40B4-BE49-F238E27FC236}">
                  <a16:creationId xmlns:a16="http://schemas.microsoft.com/office/drawing/2014/main" id="{7263802D-E789-B8E9-6A2A-BA0E8D3990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66591" y="3125435"/>
              <a:ext cx="131037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Knowledge Base</a:t>
              </a:r>
            </a:p>
          </p:txBody>
        </p:sp>
        <p:pic>
          <p:nvPicPr>
            <p:cNvPr id="110" name="Graphic 109" descr="Amazon Bedrock service icon.">
              <a:extLst>
                <a:ext uri="{FF2B5EF4-FFF2-40B4-BE49-F238E27FC236}">
                  <a16:creationId xmlns:a16="http://schemas.microsoft.com/office/drawing/2014/main" id="{ABA9386E-9932-E007-6EE2-0E2456C808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7984655" y="2378111"/>
              <a:ext cx="762000" cy="762000"/>
            </a:xfrm>
            <a:prstGeom prst="rect">
              <a:avLst/>
            </a:prstGeom>
          </p:spPr>
        </p:pic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E0A5D9EC-B249-18DA-45CF-5027A29CA540}"/>
                </a:ext>
              </a:extLst>
            </p:cNvPr>
            <p:cNvSpPr txBox="1"/>
            <p:nvPr/>
          </p:nvSpPr>
          <p:spPr>
            <a:xfrm>
              <a:off x="7364714" y="3147386"/>
              <a:ext cx="200188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Amazon Bedrock</a:t>
              </a:r>
            </a:p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Titan Embeddings</a:t>
              </a:r>
            </a:p>
          </p:txBody>
        </p:sp>
        <p:cxnSp>
          <p:nvCxnSpPr>
            <p:cNvPr id="112" name="Straight Arrow Connector 111" descr="Double pointing horizontal arrow.">
              <a:extLst>
                <a:ext uri="{FF2B5EF4-FFF2-40B4-BE49-F238E27FC236}">
                  <a16:creationId xmlns:a16="http://schemas.microsoft.com/office/drawing/2014/main" id="{06E8FA3E-75B2-E3AB-692A-36AF825E3B73}"/>
                </a:ext>
              </a:extLst>
            </p:cNvPr>
            <p:cNvCxnSpPr>
              <a:cxnSpLocks/>
              <a:stCxn id="108" idx="1"/>
              <a:endCxn id="110" idx="3"/>
            </p:cNvCxnSpPr>
            <p:nvPr/>
          </p:nvCxnSpPr>
          <p:spPr>
            <a:xfrm flipH="1" flipV="1">
              <a:off x="8746655" y="2759111"/>
              <a:ext cx="1294126" cy="3479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arrow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ECC1082F-585C-F392-7E26-FF36E7BA2A01}"/>
                </a:ext>
              </a:extLst>
            </p:cNvPr>
            <p:cNvSpPr txBox="1"/>
            <p:nvPr/>
          </p:nvSpPr>
          <p:spPr>
            <a:xfrm>
              <a:off x="8772153" y="2387433"/>
              <a:ext cx="132454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hangingPunct="1"/>
              <a:r>
                <a:rPr lang="en-US" altLang="en-US" sz="1000" i="1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Similar </a:t>
              </a:r>
            </a:p>
            <a:p>
              <a:pPr algn="ctr" eaLnBrk="1" hangingPunct="1"/>
              <a:r>
                <a:rPr lang="en-US" altLang="en-US" sz="1000" i="1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Documents</a:t>
              </a:r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483001AE-0ECF-9B4E-6375-D4626DE01DAE}"/>
              </a:ext>
            </a:extLst>
          </p:cNvPr>
          <p:cNvSpPr txBox="1"/>
          <p:nvPr/>
        </p:nvSpPr>
        <p:spPr>
          <a:xfrm>
            <a:off x="3254979" y="1896271"/>
            <a:ext cx="234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8BD92D3-0116-6AC2-1534-FFFA4D792E6D}"/>
              </a:ext>
            </a:extLst>
          </p:cNvPr>
          <p:cNvSpPr txBox="1"/>
          <p:nvPr/>
        </p:nvSpPr>
        <p:spPr>
          <a:xfrm>
            <a:off x="233099" y="4491694"/>
            <a:ext cx="2863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0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step-by-step </a:t>
            </a:r>
          </a:p>
          <a:p>
            <a:pPr algn="ctr" eaLnBrk="1" hangingPunct="1"/>
            <a:r>
              <a:rPr lang="en-US" altLang="en-US" sz="10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explanation</a:t>
            </a:r>
          </a:p>
        </p:txBody>
      </p:sp>
      <p:cxnSp>
        <p:nvCxnSpPr>
          <p:cNvPr id="138" name="Straight Arrow Connector 137" descr="Left pointing horizontal arrow. ">
            <a:extLst>
              <a:ext uri="{FF2B5EF4-FFF2-40B4-BE49-F238E27FC236}">
                <a16:creationId xmlns:a16="http://schemas.microsoft.com/office/drawing/2014/main" id="{49AA376A-28A0-0BF8-FC0B-3A60E598EFF9}"/>
              </a:ext>
            </a:extLst>
          </p:cNvPr>
          <p:cNvCxnSpPr>
            <a:cxnSpLocks/>
          </p:cNvCxnSpPr>
          <p:nvPr/>
        </p:nvCxnSpPr>
        <p:spPr>
          <a:xfrm>
            <a:off x="7352071" y="2109098"/>
            <a:ext cx="0" cy="2368323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AC84A799-4BB0-9932-C7E2-3282A2989376}"/>
              </a:ext>
            </a:extLst>
          </p:cNvPr>
          <p:cNvSpPr txBox="1"/>
          <p:nvPr/>
        </p:nvSpPr>
        <p:spPr>
          <a:xfrm>
            <a:off x="6300489" y="2859739"/>
            <a:ext cx="132454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endParaRPr lang="en-US" altLang="en-US" sz="1000" i="1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en-US" sz="10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query</a:t>
            </a:r>
          </a:p>
          <a:p>
            <a:pPr algn="ctr" eaLnBrk="1" hangingPunct="1"/>
            <a:r>
              <a:rPr lang="en-US" altLang="en-US" sz="10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= </a:t>
            </a:r>
          </a:p>
          <a:p>
            <a:pPr algn="ctr" eaLnBrk="1" hangingPunct="1"/>
            <a:r>
              <a:rPr lang="en-US" altLang="en-US" sz="10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step-by-step </a:t>
            </a:r>
          </a:p>
          <a:p>
            <a:pPr algn="ctr" eaLnBrk="1" hangingPunct="1"/>
            <a:r>
              <a:rPr lang="en-US" altLang="en-US" sz="10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explanation</a:t>
            </a:r>
          </a:p>
          <a:p>
            <a:pPr algn="ctr" eaLnBrk="1" hangingPunct="1"/>
            <a:endParaRPr lang="en-US" altLang="en-US" sz="1000" i="1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cxnSp>
        <p:nvCxnSpPr>
          <p:cNvPr id="143" name="Straight Arrow Connector 142" descr="Left pointing horizontal arrow. ">
            <a:extLst>
              <a:ext uri="{FF2B5EF4-FFF2-40B4-BE49-F238E27FC236}">
                <a16:creationId xmlns:a16="http://schemas.microsoft.com/office/drawing/2014/main" id="{3CA2AB85-5C9B-00AD-51B1-56DC4A440F8B}"/>
              </a:ext>
            </a:extLst>
          </p:cNvPr>
          <p:cNvCxnSpPr>
            <a:cxnSpLocks/>
          </p:cNvCxnSpPr>
          <p:nvPr/>
        </p:nvCxnSpPr>
        <p:spPr>
          <a:xfrm flipV="1">
            <a:off x="7732245" y="2097627"/>
            <a:ext cx="0" cy="2379794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2A39E47E-4CAD-F880-57F4-8DF1B9E29C83}"/>
              </a:ext>
            </a:extLst>
          </p:cNvPr>
          <p:cNvSpPr txBox="1"/>
          <p:nvPr/>
        </p:nvSpPr>
        <p:spPr>
          <a:xfrm>
            <a:off x="7496477" y="3099044"/>
            <a:ext cx="13245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0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similar </a:t>
            </a:r>
          </a:p>
          <a:p>
            <a:pPr algn="ctr" eaLnBrk="1" hangingPunct="1"/>
            <a:r>
              <a:rPr lang="en-US" altLang="en-US" sz="10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templates</a:t>
            </a:r>
          </a:p>
        </p:txBody>
      </p:sp>
      <p:cxnSp>
        <p:nvCxnSpPr>
          <p:cNvPr id="148" name="Straight Arrow Connector 147" descr="Left pointing horizontal arrow. ">
            <a:extLst>
              <a:ext uri="{FF2B5EF4-FFF2-40B4-BE49-F238E27FC236}">
                <a16:creationId xmlns:a16="http://schemas.microsoft.com/office/drawing/2014/main" id="{E67DCF0E-4109-AB17-509C-03AA8E6A0755}"/>
              </a:ext>
            </a:extLst>
          </p:cNvPr>
          <p:cNvCxnSpPr>
            <a:cxnSpLocks/>
          </p:cNvCxnSpPr>
          <p:nvPr/>
        </p:nvCxnSpPr>
        <p:spPr>
          <a:xfrm flipH="1">
            <a:off x="1941240" y="1252261"/>
            <a:ext cx="2980763" cy="1295450"/>
          </a:xfrm>
          <a:prstGeom prst="straightConnector1">
            <a:avLst/>
          </a:prstGeom>
          <a:ln w="15875">
            <a:solidFill>
              <a:schemeClr val="accent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 descr="Left pointing horizontal arrow. ">
            <a:extLst>
              <a:ext uri="{FF2B5EF4-FFF2-40B4-BE49-F238E27FC236}">
                <a16:creationId xmlns:a16="http://schemas.microsoft.com/office/drawing/2014/main" id="{51681276-D430-1946-4D25-C4D694D9A100}"/>
              </a:ext>
            </a:extLst>
          </p:cNvPr>
          <p:cNvCxnSpPr>
            <a:cxnSpLocks/>
          </p:cNvCxnSpPr>
          <p:nvPr/>
        </p:nvCxnSpPr>
        <p:spPr>
          <a:xfrm flipV="1">
            <a:off x="1919210" y="1560547"/>
            <a:ext cx="3023684" cy="1306162"/>
          </a:xfrm>
          <a:prstGeom prst="straightConnector1">
            <a:avLst/>
          </a:prstGeom>
          <a:ln w="15875">
            <a:solidFill>
              <a:schemeClr val="accent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03889DBA-AA07-B728-5626-F294030BC952}"/>
              </a:ext>
            </a:extLst>
          </p:cNvPr>
          <p:cNvSpPr txBox="1"/>
          <p:nvPr/>
        </p:nvSpPr>
        <p:spPr>
          <a:xfrm rot="20310199">
            <a:off x="2419297" y="1089449"/>
            <a:ext cx="132454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endParaRPr lang="en-US" altLang="en-US" sz="1000" i="1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en-US" sz="10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query</a:t>
            </a:r>
          </a:p>
          <a:p>
            <a:pPr algn="ctr" eaLnBrk="1" hangingPunct="1"/>
            <a:r>
              <a:rPr lang="en-US" altLang="en-US" sz="10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= </a:t>
            </a:r>
          </a:p>
          <a:p>
            <a:pPr algn="ctr" eaLnBrk="1" hangingPunct="1"/>
            <a:r>
              <a:rPr lang="en-US" altLang="en-US" sz="10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step-by-step </a:t>
            </a:r>
          </a:p>
          <a:p>
            <a:pPr algn="ctr" eaLnBrk="1" hangingPunct="1"/>
            <a:r>
              <a:rPr lang="en-US" altLang="en-US" sz="10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explanation</a:t>
            </a:r>
          </a:p>
          <a:p>
            <a:pPr algn="ctr" eaLnBrk="1" hangingPunct="1"/>
            <a:endParaRPr lang="en-US" altLang="en-US" sz="1000" i="1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05DA2ED-0DC6-11DC-A832-AF1214DF3AD4}"/>
              </a:ext>
            </a:extLst>
          </p:cNvPr>
          <p:cNvSpPr txBox="1"/>
          <p:nvPr/>
        </p:nvSpPr>
        <p:spPr>
          <a:xfrm rot="20165350">
            <a:off x="2867083" y="2247492"/>
            <a:ext cx="13245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0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similar </a:t>
            </a:r>
          </a:p>
          <a:p>
            <a:pPr algn="ctr" eaLnBrk="1" hangingPunct="1"/>
            <a:r>
              <a:rPr lang="en-US" altLang="en-US" sz="10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templates</a:t>
            </a:r>
          </a:p>
        </p:txBody>
      </p:sp>
      <p:pic>
        <p:nvPicPr>
          <p:cNvPr id="159" name="Graphic 23" descr="Amazon DynamoDB service icon.">
            <a:extLst>
              <a:ext uri="{FF2B5EF4-FFF2-40B4-BE49-F238E27FC236}">
                <a16:creationId xmlns:a16="http://schemas.microsoft.com/office/drawing/2014/main" id="{DF52518D-F5B0-19B4-8900-206BE744D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 bwMode="auto">
          <a:xfrm>
            <a:off x="10717153" y="60865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0" name="TextBox 12">
            <a:extLst>
              <a:ext uri="{FF2B5EF4-FFF2-40B4-BE49-F238E27FC236}">
                <a16:creationId xmlns:a16="http://schemas.microsoft.com/office/drawing/2014/main" id="{F94BB086-AAFD-F2AC-5AE7-FA2AAD33E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9441" y="824452"/>
            <a:ext cx="2279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DynamoDB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(Cache)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53451A9F-5B76-3F4C-8213-B7ADF3536A9C}"/>
              </a:ext>
            </a:extLst>
          </p:cNvPr>
          <p:cNvSpPr txBox="1"/>
          <p:nvPr/>
        </p:nvSpPr>
        <p:spPr>
          <a:xfrm>
            <a:off x="10149301" y="1345103"/>
            <a:ext cx="213133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i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METADATA &amp; GENERATED TEMPLATE</a:t>
            </a:r>
            <a:endParaRPr lang="en-US" sz="800" i="1" dirty="0"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79884-E015-A47F-4E2F-E35BA8E2F8BD}"/>
              </a:ext>
            </a:extLst>
          </p:cNvPr>
          <p:cNvSpPr txBox="1"/>
          <p:nvPr/>
        </p:nvSpPr>
        <p:spPr>
          <a:xfrm>
            <a:off x="10417151" y="324215"/>
            <a:ext cx="234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8C761774-2222-E679-44D0-678B3E52AB88}"/>
              </a:ext>
            </a:extLst>
          </p:cNvPr>
          <p:cNvSpPr txBox="1"/>
          <p:nvPr/>
        </p:nvSpPr>
        <p:spPr>
          <a:xfrm>
            <a:off x="168153" y="99909"/>
            <a:ext cx="423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Architecture to CloudFormation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83DA479F-C9A2-ED5B-C05B-F759E0B664AA}"/>
              </a:ext>
            </a:extLst>
          </p:cNvPr>
          <p:cNvSpPr txBox="1"/>
          <p:nvPr/>
        </p:nvSpPr>
        <p:spPr>
          <a:xfrm>
            <a:off x="168153" y="555519"/>
            <a:ext cx="21970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Agents for Amazon Bedrock</a:t>
            </a:r>
          </a:p>
        </p:txBody>
      </p:sp>
    </p:spTree>
    <p:extLst>
      <p:ext uri="{BB962C8B-B14F-4D97-AF65-F5344CB8AC3E}">
        <p14:creationId xmlns:p14="http://schemas.microsoft.com/office/powerpoint/2010/main" val="948079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2">
            <a:extLst>
              <a:ext uri="{FF2B5EF4-FFF2-40B4-BE49-F238E27FC236}">
                <a16:creationId xmlns:a16="http://schemas.microsoft.com/office/drawing/2014/main" id="{47699AB3-0D1B-57F0-569D-39D2BC20C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0195" y="3639304"/>
            <a:ext cx="2279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Agents for Amazon Bedrock</a:t>
            </a:r>
          </a:p>
          <a:p>
            <a:pPr algn="ctr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Claude 3</a:t>
            </a:r>
          </a:p>
        </p:txBody>
      </p:sp>
      <p:pic>
        <p:nvPicPr>
          <p:cNvPr id="5" name="lambda" descr="Lambda service icon.">
            <a:extLst>
              <a:ext uri="{FF2B5EF4-FFF2-40B4-BE49-F238E27FC236}">
                <a16:creationId xmlns:a16="http://schemas.microsoft.com/office/drawing/2014/main" id="{77754430-CEE8-B5AE-C121-1ACF063E5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4956573" y="287875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label5">
            <a:extLst>
              <a:ext uri="{FF2B5EF4-FFF2-40B4-BE49-F238E27FC236}">
                <a16:creationId xmlns:a16="http://schemas.microsoft.com/office/drawing/2014/main" id="{DDE28AA0-CE2F-5FE1-A0AA-4055051CB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3907" y="3637717"/>
            <a:ext cx="15065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AWS Lambda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Bot Actions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014514-7248-089E-E748-878175910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9895" y="2966263"/>
            <a:ext cx="22796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5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/action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07C722-71D4-1433-9F5E-5664E4EBF525}"/>
              </a:ext>
            </a:extLst>
          </p:cNvPr>
          <p:cNvSpPr txBox="1"/>
          <p:nvPr/>
        </p:nvSpPr>
        <p:spPr>
          <a:xfrm>
            <a:off x="7926611" y="3278483"/>
            <a:ext cx="18709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dirty="0">
                <a:solidFill>
                  <a:srgbClr val="333333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/validateCloudFormation</a:t>
            </a:r>
            <a:endParaRPr lang="en-US" sz="100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Arrow Connector 8" descr="Double pointing horizontal arrow.">
            <a:extLst>
              <a:ext uri="{FF2B5EF4-FFF2-40B4-BE49-F238E27FC236}">
                <a16:creationId xmlns:a16="http://schemas.microsoft.com/office/drawing/2014/main" id="{6C393A94-E0C5-A450-9D9A-F80BB9F03A88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3063851" y="3259754"/>
            <a:ext cx="1892722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 descr="Double pointing horizontal arrow.">
            <a:extLst>
              <a:ext uri="{FF2B5EF4-FFF2-40B4-BE49-F238E27FC236}">
                <a16:creationId xmlns:a16="http://schemas.microsoft.com/office/drawing/2014/main" id="{F8A207BB-FD52-6004-9F19-5285C1C4C39C}"/>
              </a:ext>
            </a:extLst>
          </p:cNvPr>
          <p:cNvCxnSpPr>
            <a:cxnSpLocks/>
            <a:stCxn id="5" idx="3"/>
            <a:endCxn id="50" idx="1"/>
          </p:cNvCxnSpPr>
          <p:nvPr/>
        </p:nvCxnSpPr>
        <p:spPr>
          <a:xfrm>
            <a:off x="5718573" y="3259754"/>
            <a:ext cx="4845661" cy="20784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aphic 4281">
            <a:extLst>
              <a:ext uri="{FF2B5EF4-FFF2-40B4-BE49-F238E27FC236}">
                <a16:creationId xmlns:a16="http://schemas.microsoft.com/office/drawing/2014/main" id="{CBFD0D58-29D8-09C5-383A-3B41EB462830}"/>
              </a:ext>
            </a:extLst>
          </p:cNvPr>
          <p:cNvGrpSpPr>
            <a:grpSpLocks noChangeAspect="1"/>
          </p:cNvGrpSpPr>
          <p:nvPr/>
        </p:nvGrpSpPr>
        <p:grpSpPr>
          <a:xfrm>
            <a:off x="2345775" y="2574356"/>
            <a:ext cx="758952" cy="1080650"/>
            <a:chOff x="3596365" y="1854836"/>
            <a:chExt cx="400718" cy="570571"/>
          </a:xfrm>
          <a:noFill/>
        </p:grpSpPr>
        <p:sp>
          <p:nvSpPr>
            <p:cNvPr id="12" name="Freeform: Shape 662">
              <a:extLst>
                <a:ext uri="{FF2B5EF4-FFF2-40B4-BE49-F238E27FC236}">
                  <a16:creationId xmlns:a16="http://schemas.microsoft.com/office/drawing/2014/main" id="{F67B7886-6EAB-D2DB-085A-39C90A54EBF9}"/>
                </a:ext>
              </a:extLst>
            </p:cNvPr>
            <p:cNvSpPr/>
            <p:nvPr/>
          </p:nvSpPr>
          <p:spPr>
            <a:xfrm>
              <a:off x="3796705" y="1854836"/>
              <a:ext cx="176428" cy="352819"/>
            </a:xfrm>
            <a:custGeom>
              <a:avLst/>
              <a:gdLst>
                <a:gd name="connsiteX0" fmla="*/ 44126 w 176428"/>
                <a:gd name="connsiteY0" fmla="*/ 147024 h 352819"/>
                <a:gd name="connsiteX1" fmla="*/ 0 w 176428"/>
                <a:gd name="connsiteY1" fmla="*/ 117619 h 352819"/>
                <a:gd name="connsiteX2" fmla="*/ 0 w 176428"/>
                <a:gd name="connsiteY2" fmla="*/ 29405 h 352819"/>
                <a:gd name="connsiteX3" fmla="*/ 44126 w 176428"/>
                <a:gd name="connsiteY3" fmla="*/ 0 h 352819"/>
                <a:gd name="connsiteX4" fmla="*/ 132340 w 176428"/>
                <a:gd name="connsiteY4" fmla="*/ 52719 h 352819"/>
                <a:gd name="connsiteX5" fmla="*/ 132340 w 176428"/>
                <a:gd name="connsiteY5" fmla="*/ 109885 h 352819"/>
                <a:gd name="connsiteX6" fmla="*/ 176428 w 176428"/>
                <a:gd name="connsiteY6" fmla="*/ 134918 h 352819"/>
                <a:gd name="connsiteX7" fmla="*/ 176428 w 176428"/>
                <a:gd name="connsiteY7" fmla="*/ 178334 h 352819"/>
                <a:gd name="connsiteX8" fmla="*/ 176428 w 176428"/>
                <a:gd name="connsiteY8" fmla="*/ 220517 h 352819"/>
                <a:gd name="connsiteX9" fmla="*/ 132340 w 176428"/>
                <a:gd name="connsiteY9" fmla="*/ 249921 h 352819"/>
                <a:gd name="connsiteX10" fmla="*/ 132340 w 176428"/>
                <a:gd name="connsiteY10" fmla="*/ 301370 h 352819"/>
                <a:gd name="connsiteX11" fmla="*/ 44126 w 176428"/>
                <a:gd name="connsiteY11" fmla="*/ 352819 h 352819"/>
                <a:gd name="connsiteX12" fmla="*/ 0 w 176428"/>
                <a:gd name="connsiteY12" fmla="*/ 330775 h 35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6428" h="352819">
                  <a:moveTo>
                    <a:pt x="44126" y="147024"/>
                  </a:moveTo>
                  <a:lnTo>
                    <a:pt x="0" y="117619"/>
                  </a:lnTo>
                  <a:lnTo>
                    <a:pt x="0" y="29405"/>
                  </a:lnTo>
                  <a:lnTo>
                    <a:pt x="44126" y="0"/>
                  </a:lnTo>
                  <a:lnTo>
                    <a:pt x="132340" y="52719"/>
                  </a:lnTo>
                  <a:lnTo>
                    <a:pt x="132340" y="109885"/>
                  </a:lnTo>
                  <a:lnTo>
                    <a:pt x="176428" y="134918"/>
                  </a:lnTo>
                  <a:lnTo>
                    <a:pt x="176428" y="178334"/>
                  </a:lnTo>
                  <a:lnTo>
                    <a:pt x="176428" y="220517"/>
                  </a:lnTo>
                  <a:lnTo>
                    <a:pt x="132340" y="249921"/>
                  </a:lnTo>
                  <a:lnTo>
                    <a:pt x="132340" y="301370"/>
                  </a:lnTo>
                  <a:lnTo>
                    <a:pt x="44126" y="352819"/>
                  </a:lnTo>
                  <a:lnTo>
                    <a:pt x="0" y="330775"/>
                  </a:lnTo>
                </a:path>
              </a:pathLst>
            </a:custGeom>
            <a:grpFill/>
            <a:ln w="12700" cap="flat">
              <a:solidFill>
                <a:srgbClr val="01A98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13" name="Freeform: Shape 663">
              <a:extLst>
                <a:ext uri="{FF2B5EF4-FFF2-40B4-BE49-F238E27FC236}">
                  <a16:creationId xmlns:a16="http://schemas.microsoft.com/office/drawing/2014/main" id="{0404EF63-43D4-4C06-4141-2FF352CA31E7}"/>
                </a:ext>
              </a:extLst>
            </p:cNvPr>
            <p:cNvSpPr/>
            <p:nvPr/>
          </p:nvSpPr>
          <p:spPr>
            <a:xfrm>
              <a:off x="3796705" y="2185499"/>
              <a:ext cx="3736" cy="151096"/>
            </a:xfrm>
            <a:custGeom>
              <a:avLst/>
              <a:gdLst>
                <a:gd name="connsiteX0" fmla="*/ 0 w 3736"/>
                <a:gd name="connsiteY0" fmla="*/ 151096 h 151096"/>
                <a:gd name="connsiteX1" fmla="*/ 0 w 3736"/>
                <a:gd name="connsiteY1" fmla="*/ 0 h 15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36" h="151096">
                  <a:moveTo>
                    <a:pt x="0" y="151096"/>
                  </a:moveTo>
                  <a:lnTo>
                    <a:pt x="0" y="0"/>
                  </a:ln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14" name="Freeform: Shape 664">
              <a:extLst>
                <a:ext uri="{FF2B5EF4-FFF2-40B4-BE49-F238E27FC236}">
                  <a16:creationId xmlns:a16="http://schemas.microsoft.com/office/drawing/2014/main" id="{67DCA337-234F-2C5B-B706-46A4209697A2}"/>
                </a:ext>
              </a:extLst>
            </p:cNvPr>
            <p:cNvSpPr/>
            <p:nvPr/>
          </p:nvSpPr>
          <p:spPr>
            <a:xfrm>
              <a:off x="3631934" y="2269006"/>
              <a:ext cx="329579" cy="67589"/>
            </a:xfrm>
            <a:custGeom>
              <a:avLst/>
              <a:gdLst>
                <a:gd name="connsiteX0" fmla="*/ 0 w 329579"/>
                <a:gd name="connsiteY0" fmla="*/ 67590 h 67589"/>
                <a:gd name="connsiteX1" fmla="*/ 0 w 329579"/>
                <a:gd name="connsiteY1" fmla="*/ 0 h 67589"/>
                <a:gd name="connsiteX2" fmla="*/ 329579 w 329579"/>
                <a:gd name="connsiteY2" fmla="*/ 0 h 67589"/>
                <a:gd name="connsiteX3" fmla="*/ 329579 w 329579"/>
                <a:gd name="connsiteY3" fmla="*/ 67590 h 67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579" h="67589">
                  <a:moveTo>
                    <a:pt x="0" y="67590"/>
                  </a:moveTo>
                  <a:lnTo>
                    <a:pt x="0" y="0"/>
                  </a:lnTo>
                  <a:lnTo>
                    <a:pt x="329579" y="0"/>
                  </a:lnTo>
                  <a:lnTo>
                    <a:pt x="329579" y="67590"/>
                  </a:ln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15" name="Freeform: Shape 665">
              <a:extLst>
                <a:ext uri="{FF2B5EF4-FFF2-40B4-BE49-F238E27FC236}">
                  <a16:creationId xmlns:a16="http://schemas.microsoft.com/office/drawing/2014/main" id="{11B39CFA-D93D-E46A-FECE-5FB3F62666F0}"/>
                </a:ext>
              </a:extLst>
            </p:cNvPr>
            <p:cNvSpPr/>
            <p:nvPr/>
          </p:nvSpPr>
          <p:spPr>
            <a:xfrm>
              <a:off x="3596365" y="2354268"/>
              <a:ext cx="71139" cy="71139"/>
            </a:xfrm>
            <a:custGeom>
              <a:avLst/>
              <a:gdLst>
                <a:gd name="connsiteX0" fmla="*/ 0 w 71139"/>
                <a:gd name="connsiteY0" fmla="*/ 0 h 71139"/>
                <a:gd name="connsiteX1" fmla="*/ 71139 w 71139"/>
                <a:gd name="connsiteY1" fmla="*/ 0 h 71139"/>
                <a:gd name="connsiteX2" fmla="*/ 71139 w 71139"/>
                <a:gd name="connsiteY2" fmla="*/ 71139 h 71139"/>
                <a:gd name="connsiteX3" fmla="*/ 0 w 71139"/>
                <a:gd name="connsiteY3" fmla="*/ 71139 h 71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139" h="71139">
                  <a:moveTo>
                    <a:pt x="0" y="0"/>
                  </a:moveTo>
                  <a:lnTo>
                    <a:pt x="71139" y="0"/>
                  </a:lnTo>
                  <a:lnTo>
                    <a:pt x="71139" y="71139"/>
                  </a:lnTo>
                  <a:lnTo>
                    <a:pt x="0" y="71139"/>
                  </a:lnTo>
                  <a:close/>
                </a:path>
              </a:pathLst>
            </a:custGeom>
            <a:grpFill/>
            <a:ln w="12700" cap="flat">
              <a:solidFill>
                <a:srgbClr val="01A98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16" name="Freeform: Shape 666">
              <a:extLst>
                <a:ext uri="{FF2B5EF4-FFF2-40B4-BE49-F238E27FC236}">
                  <a16:creationId xmlns:a16="http://schemas.microsoft.com/office/drawing/2014/main" id="{77C73F5D-9B6E-ED8E-D9E9-69CB838DF74D}"/>
                </a:ext>
              </a:extLst>
            </p:cNvPr>
            <p:cNvSpPr/>
            <p:nvPr/>
          </p:nvSpPr>
          <p:spPr>
            <a:xfrm>
              <a:off x="3750861" y="2354268"/>
              <a:ext cx="91726" cy="71139"/>
            </a:xfrm>
            <a:custGeom>
              <a:avLst/>
              <a:gdLst>
                <a:gd name="connsiteX0" fmla="*/ 91726 w 91726"/>
                <a:gd name="connsiteY0" fmla="*/ 71139 h 71139"/>
                <a:gd name="connsiteX1" fmla="*/ 0 w 91726"/>
                <a:gd name="connsiteY1" fmla="*/ 71139 h 71139"/>
                <a:gd name="connsiteX2" fmla="*/ 45844 w 91726"/>
                <a:gd name="connsiteY2" fmla="*/ 0 h 71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1726" h="71139">
                  <a:moveTo>
                    <a:pt x="91726" y="71139"/>
                  </a:moveTo>
                  <a:lnTo>
                    <a:pt x="0" y="71139"/>
                  </a:lnTo>
                  <a:lnTo>
                    <a:pt x="45844" y="0"/>
                  </a:lnTo>
                  <a:close/>
                </a:path>
              </a:pathLst>
            </a:custGeom>
            <a:grpFill/>
            <a:ln w="12700" cap="flat">
              <a:solidFill>
                <a:srgbClr val="01A98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17" name="Freeform: Shape 667">
              <a:extLst>
                <a:ext uri="{FF2B5EF4-FFF2-40B4-BE49-F238E27FC236}">
                  <a16:creationId xmlns:a16="http://schemas.microsoft.com/office/drawing/2014/main" id="{9AE0B08E-C360-B5E8-BC86-4B43BCA4ED15}"/>
                </a:ext>
              </a:extLst>
            </p:cNvPr>
            <p:cNvSpPr/>
            <p:nvPr/>
          </p:nvSpPr>
          <p:spPr>
            <a:xfrm>
              <a:off x="3925944" y="2354268"/>
              <a:ext cx="71139" cy="71139"/>
            </a:xfrm>
            <a:custGeom>
              <a:avLst/>
              <a:gdLst>
                <a:gd name="connsiteX0" fmla="*/ 35570 w 71139"/>
                <a:gd name="connsiteY0" fmla="*/ 71139 h 71139"/>
                <a:gd name="connsiteX1" fmla="*/ 35570 w 71139"/>
                <a:gd name="connsiteY1" fmla="*/ 71139 h 71139"/>
                <a:gd name="connsiteX2" fmla="*/ 0 w 71139"/>
                <a:gd name="connsiteY2" fmla="*/ 35570 h 71139"/>
                <a:gd name="connsiteX3" fmla="*/ 0 w 71139"/>
                <a:gd name="connsiteY3" fmla="*/ 35570 h 71139"/>
                <a:gd name="connsiteX4" fmla="*/ 35570 w 71139"/>
                <a:gd name="connsiteY4" fmla="*/ 0 h 71139"/>
                <a:gd name="connsiteX5" fmla="*/ 35570 w 71139"/>
                <a:gd name="connsiteY5" fmla="*/ 0 h 71139"/>
                <a:gd name="connsiteX6" fmla="*/ 71139 w 71139"/>
                <a:gd name="connsiteY6" fmla="*/ 35570 h 71139"/>
                <a:gd name="connsiteX7" fmla="*/ 71139 w 71139"/>
                <a:gd name="connsiteY7" fmla="*/ 35570 h 71139"/>
                <a:gd name="connsiteX8" fmla="*/ 35570 w 71139"/>
                <a:gd name="connsiteY8" fmla="*/ 71139 h 71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139" h="71139">
                  <a:moveTo>
                    <a:pt x="35570" y="71139"/>
                  </a:moveTo>
                  <a:lnTo>
                    <a:pt x="35570" y="71139"/>
                  </a:lnTo>
                  <a:cubicBezTo>
                    <a:pt x="15917" y="71139"/>
                    <a:pt x="0" y="55223"/>
                    <a:pt x="0" y="35570"/>
                  </a:cubicBezTo>
                  <a:lnTo>
                    <a:pt x="0" y="35570"/>
                  </a:lnTo>
                  <a:cubicBezTo>
                    <a:pt x="0" y="15917"/>
                    <a:pt x="15917" y="0"/>
                    <a:pt x="35570" y="0"/>
                  </a:cubicBezTo>
                  <a:lnTo>
                    <a:pt x="35570" y="0"/>
                  </a:lnTo>
                  <a:cubicBezTo>
                    <a:pt x="55223" y="0"/>
                    <a:pt x="71139" y="15917"/>
                    <a:pt x="71139" y="35570"/>
                  </a:cubicBezTo>
                  <a:lnTo>
                    <a:pt x="71139" y="35570"/>
                  </a:lnTo>
                  <a:cubicBezTo>
                    <a:pt x="71139" y="55223"/>
                    <a:pt x="55185" y="71139"/>
                    <a:pt x="35570" y="71139"/>
                  </a:cubicBezTo>
                  <a:close/>
                </a:path>
              </a:pathLst>
            </a:custGeom>
            <a:grpFill/>
            <a:ln w="12700" cap="flat">
              <a:solidFill>
                <a:srgbClr val="01A98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18" name="Freeform: Shape 668">
              <a:extLst>
                <a:ext uri="{FF2B5EF4-FFF2-40B4-BE49-F238E27FC236}">
                  <a16:creationId xmlns:a16="http://schemas.microsoft.com/office/drawing/2014/main" id="{34849C7C-612C-BF46-9AF8-C3DE08AAFA7B}"/>
                </a:ext>
              </a:extLst>
            </p:cNvPr>
            <p:cNvSpPr/>
            <p:nvPr/>
          </p:nvSpPr>
          <p:spPr>
            <a:xfrm>
              <a:off x="3708528" y="1921006"/>
              <a:ext cx="44088" cy="112163"/>
            </a:xfrm>
            <a:custGeom>
              <a:avLst/>
              <a:gdLst>
                <a:gd name="connsiteX0" fmla="*/ 0 w 44088"/>
                <a:gd name="connsiteY0" fmla="*/ 112164 h 112163"/>
                <a:gd name="connsiteX1" fmla="*/ 0 w 44088"/>
                <a:gd name="connsiteY1" fmla="*/ 66133 h 112163"/>
                <a:gd name="connsiteX2" fmla="*/ 44088 w 44088"/>
                <a:gd name="connsiteY2" fmla="*/ 44088 h 112163"/>
                <a:gd name="connsiteX3" fmla="*/ 44088 w 44088"/>
                <a:gd name="connsiteY3" fmla="*/ 0 h 112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88" h="112163">
                  <a:moveTo>
                    <a:pt x="0" y="112164"/>
                  </a:moveTo>
                  <a:lnTo>
                    <a:pt x="0" y="66133"/>
                  </a:lnTo>
                  <a:lnTo>
                    <a:pt x="44088" y="44088"/>
                  </a:lnTo>
                  <a:lnTo>
                    <a:pt x="44088" y="0"/>
                  </a:ln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19" name="Freeform: Shape 669">
              <a:extLst>
                <a:ext uri="{FF2B5EF4-FFF2-40B4-BE49-F238E27FC236}">
                  <a16:creationId xmlns:a16="http://schemas.microsoft.com/office/drawing/2014/main" id="{207812FA-D5F2-C06A-0AF1-B4E62074E305}"/>
                </a:ext>
              </a:extLst>
            </p:cNvPr>
            <p:cNvSpPr/>
            <p:nvPr/>
          </p:nvSpPr>
          <p:spPr>
            <a:xfrm>
              <a:off x="3664403" y="1965095"/>
              <a:ext cx="44125" cy="22044"/>
            </a:xfrm>
            <a:custGeom>
              <a:avLst/>
              <a:gdLst>
                <a:gd name="connsiteX0" fmla="*/ 44126 w 44125"/>
                <a:gd name="connsiteY0" fmla="*/ 22044 h 22044"/>
                <a:gd name="connsiteX1" fmla="*/ 0 w 44125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125" h="22044">
                  <a:moveTo>
                    <a:pt x="44126" y="22044"/>
                  </a:moveTo>
                  <a:lnTo>
                    <a:pt x="0" y="0"/>
                  </a:ln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20" name="Freeform: Shape 670">
              <a:extLst>
                <a:ext uri="{FF2B5EF4-FFF2-40B4-BE49-F238E27FC236}">
                  <a16:creationId xmlns:a16="http://schemas.microsoft.com/office/drawing/2014/main" id="{3200BD9B-7576-3FC0-A9FC-0CD5BD6A1337}"/>
                </a:ext>
              </a:extLst>
            </p:cNvPr>
            <p:cNvSpPr/>
            <p:nvPr/>
          </p:nvSpPr>
          <p:spPr>
            <a:xfrm>
              <a:off x="3708528" y="1881514"/>
              <a:ext cx="3736" cy="54176"/>
            </a:xfrm>
            <a:custGeom>
              <a:avLst/>
              <a:gdLst>
                <a:gd name="connsiteX0" fmla="*/ 0 w 3736"/>
                <a:gd name="connsiteY0" fmla="*/ 54176 h 54176"/>
                <a:gd name="connsiteX1" fmla="*/ 0 w 3736"/>
                <a:gd name="connsiteY1" fmla="*/ 0 h 5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36" h="54176">
                  <a:moveTo>
                    <a:pt x="0" y="54176"/>
                  </a:moveTo>
                  <a:lnTo>
                    <a:pt x="0" y="0"/>
                  </a:ln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21" name="Freeform: Shape 671">
              <a:extLst>
                <a:ext uri="{FF2B5EF4-FFF2-40B4-BE49-F238E27FC236}">
                  <a16:creationId xmlns:a16="http://schemas.microsoft.com/office/drawing/2014/main" id="{C91B97DD-FFC3-9913-0524-EA786BF56EF4}"/>
                </a:ext>
              </a:extLst>
            </p:cNvPr>
            <p:cNvSpPr/>
            <p:nvPr/>
          </p:nvSpPr>
          <p:spPr>
            <a:xfrm>
              <a:off x="3620314" y="2008623"/>
              <a:ext cx="42481" cy="24995"/>
            </a:xfrm>
            <a:custGeom>
              <a:avLst/>
              <a:gdLst>
                <a:gd name="connsiteX0" fmla="*/ 0 w 42481"/>
                <a:gd name="connsiteY0" fmla="*/ 24996 h 24995"/>
                <a:gd name="connsiteX1" fmla="*/ 42482 w 42481"/>
                <a:gd name="connsiteY1" fmla="*/ 0 h 24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481" h="24995">
                  <a:moveTo>
                    <a:pt x="0" y="24996"/>
                  </a:moveTo>
                  <a:lnTo>
                    <a:pt x="42482" y="0"/>
                  </a:ln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22" name="Freeform: Shape 672">
              <a:extLst>
                <a:ext uri="{FF2B5EF4-FFF2-40B4-BE49-F238E27FC236}">
                  <a16:creationId xmlns:a16="http://schemas.microsoft.com/office/drawing/2014/main" id="{45E0ED36-8FB9-B2BC-0906-C76A66178DE5}"/>
                </a:ext>
              </a:extLst>
            </p:cNvPr>
            <p:cNvSpPr/>
            <p:nvPr/>
          </p:nvSpPr>
          <p:spPr>
            <a:xfrm>
              <a:off x="3664403" y="2075353"/>
              <a:ext cx="44125" cy="29404"/>
            </a:xfrm>
            <a:custGeom>
              <a:avLst/>
              <a:gdLst>
                <a:gd name="connsiteX0" fmla="*/ 0 w 44125"/>
                <a:gd name="connsiteY0" fmla="*/ 29405 h 29404"/>
                <a:gd name="connsiteX1" fmla="*/ 44126 w 44125"/>
                <a:gd name="connsiteY1" fmla="*/ 0 h 29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125" h="29404">
                  <a:moveTo>
                    <a:pt x="0" y="29405"/>
                  </a:moveTo>
                  <a:lnTo>
                    <a:pt x="44126" y="0"/>
                  </a:ln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23" name="Freeform: Shape 673">
              <a:extLst>
                <a:ext uri="{FF2B5EF4-FFF2-40B4-BE49-F238E27FC236}">
                  <a16:creationId xmlns:a16="http://schemas.microsoft.com/office/drawing/2014/main" id="{07FB3A84-EA0E-69E0-4482-6225ED81C7E9}"/>
                </a:ext>
              </a:extLst>
            </p:cNvPr>
            <p:cNvSpPr/>
            <p:nvPr/>
          </p:nvSpPr>
          <p:spPr>
            <a:xfrm>
              <a:off x="3707557" y="2158710"/>
              <a:ext cx="39642" cy="23351"/>
            </a:xfrm>
            <a:custGeom>
              <a:avLst/>
              <a:gdLst>
                <a:gd name="connsiteX0" fmla="*/ 0 w 39642"/>
                <a:gd name="connsiteY0" fmla="*/ 23352 h 23351"/>
                <a:gd name="connsiteX1" fmla="*/ 39642 w 39642"/>
                <a:gd name="connsiteY1" fmla="*/ 0 h 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642" h="23351">
                  <a:moveTo>
                    <a:pt x="0" y="23352"/>
                  </a:moveTo>
                  <a:lnTo>
                    <a:pt x="39642" y="0"/>
                  </a:ln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24" name="Freeform: Shape 674">
              <a:extLst>
                <a:ext uri="{FF2B5EF4-FFF2-40B4-BE49-F238E27FC236}">
                  <a16:creationId xmlns:a16="http://schemas.microsoft.com/office/drawing/2014/main" id="{239EE585-57E3-5E5C-6555-552D0FA22685}"/>
                </a:ext>
              </a:extLst>
            </p:cNvPr>
            <p:cNvSpPr/>
            <p:nvPr/>
          </p:nvSpPr>
          <p:spPr>
            <a:xfrm>
              <a:off x="3701168" y="2075353"/>
              <a:ext cx="95537" cy="51448"/>
            </a:xfrm>
            <a:custGeom>
              <a:avLst/>
              <a:gdLst>
                <a:gd name="connsiteX0" fmla="*/ 0 w 95537"/>
                <a:gd name="connsiteY0" fmla="*/ 51449 h 51448"/>
                <a:gd name="connsiteX1" fmla="*/ 95537 w 95537"/>
                <a:gd name="connsiteY1" fmla="*/ 0 h 51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537" h="51448">
                  <a:moveTo>
                    <a:pt x="0" y="51449"/>
                  </a:moveTo>
                  <a:lnTo>
                    <a:pt x="95537" y="0"/>
                  </a:ln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25" name="Freeform: Shape 675">
              <a:extLst>
                <a:ext uri="{FF2B5EF4-FFF2-40B4-BE49-F238E27FC236}">
                  <a16:creationId xmlns:a16="http://schemas.microsoft.com/office/drawing/2014/main" id="{6B831C65-E591-3268-F42B-0A3C77BC3B64}"/>
                </a:ext>
              </a:extLst>
            </p:cNvPr>
            <p:cNvSpPr/>
            <p:nvPr/>
          </p:nvSpPr>
          <p:spPr>
            <a:xfrm>
              <a:off x="3664403" y="2031265"/>
              <a:ext cx="44125" cy="29367"/>
            </a:xfrm>
            <a:custGeom>
              <a:avLst/>
              <a:gdLst>
                <a:gd name="connsiteX0" fmla="*/ 0 w 44125"/>
                <a:gd name="connsiteY0" fmla="*/ 29367 h 29367"/>
                <a:gd name="connsiteX1" fmla="*/ 44126 w 44125"/>
                <a:gd name="connsiteY1" fmla="*/ 0 h 2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125" h="29367">
                  <a:moveTo>
                    <a:pt x="0" y="29367"/>
                  </a:moveTo>
                  <a:lnTo>
                    <a:pt x="44126" y="0"/>
                  </a:ln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26" name="Freeform: Shape 676">
              <a:extLst>
                <a:ext uri="{FF2B5EF4-FFF2-40B4-BE49-F238E27FC236}">
                  <a16:creationId xmlns:a16="http://schemas.microsoft.com/office/drawing/2014/main" id="{A8A07C03-9C8E-EC7C-0D35-D69ED892E41F}"/>
                </a:ext>
              </a:extLst>
            </p:cNvPr>
            <p:cNvSpPr/>
            <p:nvPr/>
          </p:nvSpPr>
          <p:spPr>
            <a:xfrm>
              <a:off x="3708528" y="2031265"/>
              <a:ext cx="44088" cy="66132"/>
            </a:xfrm>
            <a:custGeom>
              <a:avLst/>
              <a:gdLst>
                <a:gd name="connsiteX0" fmla="*/ 44088 w 44088"/>
                <a:gd name="connsiteY0" fmla="*/ 66133 h 66132"/>
                <a:gd name="connsiteX1" fmla="*/ 44088 w 44088"/>
                <a:gd name="connsiteY1" fmla="*/ 29367 h 66132"/>
                <a:gd name="connsiteX2" fmla="*/ 0 w 44088"/>
                <a:gd name="connsiteY2" fmla="*/ 0 h 66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088" h="66132">
                  <a:moveTo>
                    <a:pt x="44088" y="66133"/>
                  </a:moveTo>
                  <a:lnTo>
                    <a:pt x="44088" y="29367"/>
                  </a:lnTo>
                  <a:lnTo>
                    <a:pt x="0" y="0"/>
                  </a:ln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27" name="Freeform: Shape 677">
              <a:extLst>
                <a:ext uri="{FF2B5EF4-FFF2-40B4-BE49-F238E27FC236}">
                  <a16:creationId xmlns:a16="http://schemas.microsoft.com/office/drawing/2014/main" id="{6DC78BE1-323D-9AC7-0657-3651A461BA90}"/>
                </a:ext>
              </a:extLst>
            </p:cNvPr>
            <p:cNvSpPr/>
            <p:nvPr/>
          </p:nvSpPr>
          <p:spPr>
            <a:xfrm>
              <a:off x="3929045" y="2053309"/>
              <a:ext cx="44088" cy="22044"/>
            </a:xfrm>
            <a:custGeom>
              <a:avLst/>
              <a:gdLst>
                <a:gd name="connsiteX0" fmla="*/ 0 w 44088"/>
                <a:gd name="connsiteY0" fmla="*/ 0 h 22044"/>
                <a:gd name="connsiteX1" fmla="*/ 44088 w 44088"/>
                <a:gd name="connsiteY1" fmla="*/ 22044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088" h="22044">
                  <a:moveTo>
                    <a:pt x="0" y="0"/>
                  </a:moveTo>
                  <a:lnTo>
                    <a:pt x="44088" y="22044"/>
                  </a:lnTo>
                </a:path>
              </a:pathLst>
            </a:custGeom>
            <a:grpFill/>
            <a:ln w="12700" cap="flat">
              <a:solidFill>
                <a:srgbClr val="01A98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28" name="Freeform: Shape 678">
              <a:extLst>
                <a:ext uri="{FF2B5EF4-FFF2-40B4-BE49-F238E27FC236}">
                  <a16:creationId xmlns:a16="http://schemas.microsoft.com/office/drawing/2014/main" id="{4E3FC3AB-0557-12AA-117D-ECF5957FB393}"/>
                </a:ext>
              </a:extLst>
            </p:cNvPr>
            <p:cNvSpPr/>
            <p:nvPr/>
          </p:nvSpPr>
          <p:spPr>
            <a:xfrm>
              <a:off x="3899640" y="1935690"/>
              <a:ext cx="29404" cy="3736"/>
            </a:xfrm>
            <a:custGeom>
              <a:avLst/>
              <a:gdLst>
                <a:gd name="connsiteX0" fmla="*/ 29405 w 29404"/>
                <a:gd name="connsiteY0" fmla="*/ 0 h 3736"/>
                <a:gd name="connsiteX1" fmla="*/ 0 w 29404"/>
                <a:gd name="connsiteY1" fmla="*/ 0 h 3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404" h="3736">
                  <a:moveTo>
                    <a:pt x="29405" y="0"/>
                  </a:moveTo>
                  <a:lnTo>
                    <a:pt x="0" y="0"/>
                  </a:lnTo>
                </a:path>
              </a:pathLst>
            </a:custGeom>
            <a:grpFill/>
            <a:ln w="12700" cap="flat">
              <a:solidFill>
                <a:srgbClr val="01A98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29" name="Freeform: Shape 679">
              <a:extLst>
                <a:ext uri="{FF2B5EF4-FFF2-40B4-BE49-F238E27FC236}">
                  <a16:creationId xmlns:a16="http://schemas.microsoft.com/office/drawing/2014/main" id="{E5C8E69C-7AA5-9213-D024-BFD8BE3C1009}"/>
                </a:ext>
              </a:extLst>
            </p:cNvPr>
            <p:cNvSpPr/>
            <p:nvPr/>
          </p:nvSpPr>
          <p:spPr>
            <a:xfrm>
              <a:off x="3796705" y="2134162"/>
              <a:ext cx="44125" cy="3736"/>
            </a:xfrm>
            <a:custGeom>
              <a:avLst/>
              <a:gdLst>
                <a:gd name="connsiteX0" fmla="*/ 0 w 44125"/>
                <a:gd name="connsiteY0" fmla="*/ 0 h 3736"/>
                <a:gd name="connsiteX1" fmla="*/ 44126 w 44125"/>
                <a:gd name="connsiteY1" fmla="*/ 0 h 3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125" h="3736">
                  <a:moveTo>
                    <a:pt x="0" y="0"/>
                  </a:moveTo>
                  <a:lnTo>
                    <a:pt x="44126" y="0"/>
                  </a:lnTo>
                </a:path>
              </a:pathLst>
            </a:custGeom>
            <a:grpFill/>
            <a:ln w="12700" cap="flat">
              <a:solidFill>
                <a:srgbClr val="01A98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30" name="Freeform: Shape 680">
              <a:extLst>
                <a:ext uri="{FF2B5EF4-FFF2-40B4-BE49-F238E27FC236}">
                  <a16:creationId xmlns:a16="http://schemas.microsoft.com/office/drawing/2014/main" id="{0CE6A2F3-8EB4-5246-25A0-037FB5D3CB2D}"/>
                </a:ext>
              </a:extLst>
            </p:cNvPr>
            <p:cNvSpPr/>
            <p:nvPr/>
          </p:nvSpPr>
          <p:spPr>
            <a:xfrm>
              <a:off x="3870236" y="1921006"/>
              <a:ext cx="29367" cy="29367"/>
            </a:xfrm>
            <a:custGeom>
              <a:avLst/>
              <a:gdLst>
                <a:gd name="connsiteX0" fmla="*/ 29367 w 29367"/>
                <a:gd name="connsiteY0" fmla="*/ 14684 h 29367"/>
                <a:gd name="connsiteX1" fmla="*/ 14684 w 29367"/>
                <a:gd name="connsiteY1" fmla="*/ 29367 h 29367"/>
                <a:gd name="connsiteX2" fmla="*/ 0 w 29367"/>
                <a:gd name="connsiteY2" fmla="*/ 14684 h 29367"/>
                <a:gd name="connsiteX3" fmla="*/ 14684 w 29367"/>
                <a:gd name="connsiteY3" fmla="*/ 0 h 29367"/>
                <a:gd name="connsiteX4" fmla="*/ 29367 w 29367"/>
                <a:gd name="connsiteY4" fmla="*/ 14684 h 2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7" h="29367">
                  <a:moveTo>
                    <a:pt x="29367" y="14684"/>
                  </a:moveTo>
                  <a:cubicBezTo>
                    <a:pt x="29367" y="22793"/>
                    <a:pt x="22793" y="29367"/>
                    <a:pt x="14684" y="29367"/>
                  </a:cubicBezTo>
                  <a:cubicBezTo>
                    <a:pt x="6574" y="29367"/>
                    <a:pt x="0" y="22793"/>
                    <a:pt x="0" y="14684"/>
                  </a:cubicBezTo>
                  <a:cubicBezTo>
                    <a:pt x="0" y="6574"/>
                    <a:pt x="6574" y="0"/>
                    <a:pt x="14684" y="0"/>
                  </a:cubicBezTo>
                  <a:cubicBezTo>
                    <a:pt x="22793" y="0"/>
                    <a:pt x="29367" y="6574"/>
                    <a:pt x="29367" y="14684"/>
                  </a:cubicBezTo>
                  <a:close/>
                </a:path>
              </a:pathLst>
            </a:custGeom>
            <a:grpFill/>
            <a:ln w="12700" cap="flat">
              <a:solidFill>
                <a:srgbClr val="01A98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31" name="Freeform: Shape 681">
              <a:extLst>
                <a:ext uri="{FF2B5EF4-FFF2-40B4-BE49-F238E27FC236}">
                  <a16:creationId xmlns:a16="http://schemas.microsoft.com/office/drawing/2014/main" id="{A7D5AF57-F41D-BDEA-1D3B-25628A41EDB8}"/>
                </a:ext>
              </a:extLst>
            </p:cNvPr>
            <p:cNvSpPr/>
            <p:nvPr/>
          </p:nvSpPr>
          <p:spPr>
            <a:xfrm>
              <a:off x="3899640" y="2031265"/>
              <a:ext cx="29367" cy="29367"/>
            </a:xfrm>
            <a:custGeom>
              <a:avLst/>
              <a:gdLst>
                <a:gd name="connsiteX0" fmla="*/ 29367 w 29367"/>
                <a:gd name="connsiteY0" fmla="*/ 14684 h 29367"/>
                <a:gd name="connsiteX1" fmla="*/ 14684 w 29367"/>
                <a:gd name="connsiteY1" fmla="*/ 29367 h 29367"/>
                <a:gd name="connsiteX2" fmla="*/ 0 w 29367"/>
                <a:gd name="connsiteY2" fmla="*/ 14684 h 29367"/>
                <a:gd name="connsiteX3" fmla="*/ 14684 w 29367"/>
                <a:gd name="connsiteY3" fmla="*/ 0 h 29367"/>
                <a:gd name="connsiteX4" fmla="*/ 29367 w 29367"/>
                <a:gd name="connsiteY4" fmla="*/ 14684 h 2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7" h="29367">
                  <a:moveTo>
                    <a:pt x="29367" y="14684"/>
                  </a:moveTo>
                  <a:cubicBezTo>
                    <a:pt x="29367" y="22793"/>
                    <a:pt x="22793" y="29367"/>
                    <a:pt x="14684" y="29367"/>
                  </a:cubicBezTo>
                  <a:cubicBezTo>
                    <a:pt x="6574" y="29367"/>
                    <a:pt x="0" y="22793"/>
                    <a:pt x="0" y="14684"/>
                  </a:cubicBezTo>
                  <a:cubicBezTo>
                    <a:pt x="0" y="6574"/>
                    <a:pt x="6574" y="0"/>
                    <a:pt x="14684" y="0"/>
                  </a:cubicBezTo>
                  <a:cubicBezTo>
                    <a:pt x="22793" y="0"/>
                    <a:pt x="29367" y="6574"/>
                    <a:pt x="29367" y="14684"/>
                  </a:cubicBezTo>
                  <a:close/>
                </a:path>
              </a:pathLst>
            </a:custGeom>
            <a:grpFill/>
            <a:ln w="12700" cap="flat">
              <a:solidFill>
                <a:srgbClr val="01A98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32" name="Freeform: Shape 682">
              <a:extLst>
                <a:ext uri="{FF2B5EF4-FFF2-40B4-BE49-F238E27FC236}">
                  <a16:creationId xmlns:a16="http://schemas.microsoft.com/office/drawing/2014/main" id="{8A131803-6322-6898-8629-B1960D56928B}"/>
                </a:ext>
              </a:extLst>
            </p:cNvPr>
            <p:cNvSpPr/>
            <p:nvPr/>
          </p:nvSpPr>
          <p:spPr>
            <a:xfrm>
              <a:off x="3840831" y="1994499"/>
              <a:ext cx="29367" cy="29367"/>
            </a:xfrm>
            <a:custGeom>
              <a:avLst/>
              <a:gdLst>
                <a:gd name="connsiteX0" fmla="*/ 29367 w 29367"/>
                <a:gd name="connsiteY0" fmla="*/ 14684 h 29367"/>
                <a:gd name="connsiteX1" fmla="*/ 14684 w 29367"/>
                <a:gd name="connsiteY1" fmla="*/ 29367 h 29367"/>
                <a:gd name="connsiteX2" fmla="*/ 0 w 29367"/>
                <a:gd name="connsiteY2" fmla="*/ 14684 h 29367"/>
                <a:gd name="connsiteX3" fmla="*/ 14684 w 29367"/>
                <a:gd name="connsiteY3" fmla="*/ 0 h 29367"/>
                <a:gd name="connsiteX4" fmla="*/ 29367 w 29367"/>
                <a:gd name="connsiteY4" fmla="*/ 14684 h 2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7" h="29367">
                  <a:moveTo>
                    <a:pt x="29367" y="14684"/>
                  </a:moveTo>
                  <a:cubicBezTo>
                    <a:pt x="29367" y="22793"/>
                    <a:pt x="22793" y="29367"/>
                    <a:pt x="14684" y="29367"/>
                  </a:cubicBezTo>
                  <a:cubicBezTo>
                    <a:pt x="6574" y="29367"/>
                    <a:pt x="0" y="22793"/>
                    <a:pt x="0" y="14684"/>
                  </a:cubicBezTo>
                  <a:cubicBezTo>
                    <a:pt x="0" y="6574"/>
                    <a:pt x="6574" y="0"/>
                    <a:pt x="14684" y="0"/>
                  </a:cubicBezTo>
                  <a:cubicBezTo>
                    <a:pt x="22793" y="0"/>
                    <a:pt x="29367" y="6574"/>
                    <a:pt x="29367" y="14684"/>
                  </a:cubicBezTo>
                  <a:close/>
                </a:path>
              </a:pathLst>
            </a:custGeom>
            <a:grpFill/>
            <a:ln w="12700" cap="flat">
              <a:solidFill>
                <a:srgbClr val="01A98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33" name="Freeform: Shape 683">
              <a:extLst>
                <a:ext uri="{FF2B5EF4-FFF2-40B4-BE49-F238E27FC236}">
                  <a16:creationId xmlns:a16="http://schemas.microsoft.com/office/drawing/2014/main" id="{5C604FEE-FC19-DD76-9AD9-FCA46FA4499E}"/>
                </a:ext>
              </a:extLst>
            </p:cNvPr>
            <p:cNvSpPr/>
            <p:nvPr/>
          </p:nvSpPr>
          <p:spPr>
            <a:xfrm>
              <a:off x="3840831" y="2119479"/>
              <a:ext cx="29367" cy="29367"/>
            </a:xfrm>
            <a:custGeom>
              <a:avLst/>
              <a:gdLst>
                <a:gd name="connsiteX0" fmla="*/ 29367 w 29367"/>
                <a:gd name="connsiteY0" fmla="*/ 14684 h 29367"/>
                <a:gd name="connsiteX1" fmla="*/ 14684 w 29367"/>
                <a:gd name="connsiteY1" fmla="*/ 29367 h 29367"/>
                <a:gd name="connsiteX2" fmla="*/ 0 w 29367"/>
                <a:gd name="connsiteY2" fmla="*/ 14684 h 29367"/>
                <a:gd name="connsiteX3" fmla="*/ 14684 w 29367"/>
                <a:gd name="connsiteY3" fmla="*/ 0 h 29367"/>
                <a:gd name="connsiteX4" fmla="*/ 29367 w 29367"/>
                <a:gd name="connsiteY4" fmla="*/ 14684 h 2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7" h="29367">
                  <a:moveTo>
                    <a:pt x="29367" y="14684"/>
                  </a:moveTo>
                  <a:cubicBezTo>
                    <a:pt x="29367" y="22793"/>
                    <a:pt x="22793" y="29367"/>
                    <a:pt x="14684" y="29367"/>
                  </a:cubicBezTo>
                  <a:cubicBezTo>
                    <a:pt x="6574" y="29367"/>
                    <a:pt x="0" y="22793"/>
                    <a:pt x="0" y="14684"/>
                  </a:cubicBezTo>
                  <a:cubicBezTo>
                    <a:pt x="0" y="6574"/>
                    <a:pt x="6574" y="0"/>
                    <a:pt x="14684" y="0"/>
                  </a:cubicBezTo>
                  <a:cubicBezTo>
                    <a:pt x="22793" y="0"/>
                    <a:pt x="29367" y="6574"/>
                    <a:pt x="29367" y="14684"/>
                  </a:cubicBezTo>
                  <a:close/>
                </a:path>
              </a:pathLst>
            </a:custGeom>
            <a:grpFill/>
            <a:ln w="12700" cap="flat">
              <a:solidFill>
                <a:srgbClr val="01A98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34" name="Freeform: Shape 684">
              <a:extLst>
                <a:ext uri="{FF2B5EF4-FFF2-40B4-BE49-F238E27FC236}">
                  <a16:creationId xmlns:a16="http://schemas.microsoft.com/office/drawing/2014/main" id="{0DA327E5-7AE2-A048-55DE-342D6068890D}"/>
                </a:ext>
              </a:extLst>
            </p:cNvPr>
            <p:cNvSpPr/>
            <p:nvPr/>
          </p:nvSpPr>
          <p:spPr>
            <a:xfrm>
              <a:off x="3796705" y="2033581"/>
              <a:ext cx="3736" cy="152030"/>
            </a:xfrm>
            <a:custGeom>
              <a:avLst/>
              <a:gdLst>
                <a:gd name="connsiteX0" fmla="*/ 0 w 3736"/>
                <a:gd name="connsiteY0" fmla="*/ 152030 h 152030"/>
                <a:gd name="connsiteX1" fmla="*/ 0 w 3736"/>
                <a:gd name="connsiteY1" fmla="*/ 0 h 152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36" h="152030">
                  <a:moveTo>
                    <a:pt x="0" y="152030"/>
                  </a:moveTo>
                  <a:lnTo>
                    <a:pt x="0" y="0"/>
                  </a:lnTo>
                </a:path>
              </a:pathLst>
            </a:custGeom>
            <a:grpFill/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  <p:sp>
          <p:nvSpPr>
            <p:cNvPr id="35" name="Freeform: Shape 685">
              <a:extLst>
                <a:ext uri="{FF2B5EF4-FFF2-40B4-BE49-F238E27FC236}">
                  <a16:creationId xmlns:a16="http://schemas.microsoft.com/office/drawing/2014/main" id="{5EDB9828-AE35-1427-5D71-EDCA5918DFD2}"/>
                </a:ext>
              </a:extLst>
            </p:cNvPr>
            <p:cNvSpPr/>
            <p:nvPr/>
          </p:nvSpPr>
          <p:spPr>
            <a:xfrm>
              <a:off x="3620314" y="1854836"/>
              <a:ext cx="176390" cy="352819"/>
            </a:xfrm>
            <a:custGeom>
              <a:avLst/>
              <a:gdLst>
                <a:gd name="connsiteX0" fmla="*/ 176391 w 176390"/>
                <a:gd name="connsiteY0" fmla="*/ 29405 h 352819"/>
                <a:gd name="connsiteX1" fmla="*/ 132303 w 176390"/>
                <a:gd name="connsiteY1" fmla="*/ 0 h 352819"/>
                <a:gd name="connsiteX2" fmla="*/ 44088 w 176390"/>
                <a:gd name="connsiteY2" fmla="*/ 51449 h 352819"/>
                <a:gd name="connsiteX3" fmla="*/ 44088 w 176390"/>
                <a:gd name="connsiteY3" fmla="*/ 109885 h 352819"/>
                <a:gd name="connsiteX4" fmla="*/ 0 w 176390"/>
                <a:gd name="connsiteY4" fmla="*/ 132303 h 352819"/>
                <a:gd name="connsiteX5" fmla="*/ 0 w 176390"/>
                <a:gd name="connsiteY5" fmla="*/ 178334 h 352819"/>
                <a:gd name="connsiteX6" fmla="*/ 0 w 176390"/>
                <a:gd name="connsiteY6" fmla="*/ 220517 h 352819"/>
                <a:gd name="connsiteX7" fmla="*/ 44088 w 176390"/>
                <a:gd name="connsiteY7" fmla="*/ 249921 h 352819"/>
                <a:gd name="connsiteX8" fmla="*/ 44088 w 176390"/>
                <a:gd name="connsiteY8" fmla="*/ 301370 h 352819"/>
                <a:gd name="connsiteX9" fmla="*/ 132303 w 176390"/>
                <a:gd name="connsiteY9" fmla="*/ 352819 h 352819"/>
                <a:gd name="connsiteX10" fmla="*/ 176391 w 176390"/>
                <a:gd name="connsiteY10" fmla="*/ 329206 h 352819"/>
                <a:gd name="connsiteX11" fmla="*/ 176391 w 176390"/>
                <a:gd name="connsiteY11" fmla="*/ 176428 h 352819"/>
                <a:gd name="connsiteX12" fmla="*/ 132303 w 176390"/>
                <a:gd name="connsiteY12" fmla="*/ 154347 h 35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6390" h="352819">
                  <a:moveTo>
                    <a:pt x="176391" y="29405"/>
                  </a:moveTo>
                  <a:lnTo>
                    <a:pt x="132303" y="0"/>
                  </a:lnTo>
                  <a:lnTo>
                    <a:pt x="44088" y="51449"/>
                  </a:lnTo>
                  <a:lnTo>
                    <a:pt x="44088" y="109885"/>
                  </a:lnTo>
                  <a:lnTo>
                    <a:pt x="0" y="132303"/>
                  </a:lnTo>
                  <a:lnTo>
                    <a:pt x="0" y="178334"/>
                  </a:lnTo>
                  <a:lnTo>
                    <a:pt x="0" y="220517"/>
                  </a:lnTo>
                  <a:lnTo>
                    <a:pt x="44088" y="249921"/>
                  </a:lnTo>
                  <a:lnTo>
                    <a:pt x="44088" y="301370"/>
                  </a:lnTo>
                  <a:lnTo>
                    <a:pt x="132303" y="352819"/>
                  </a:lnTo>
                  <a:lnTo>
                    <a:pt x="176391" y="329206"/>
                  </a:lnTo>
                  <a:lnTo>
                    <a:pt x="176391" y="176428"/>
                  </a:lnTo>
                  <a:lnTo>
                    <a:pt x="132303" y="154347"/>
                  </a:ln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solidFill>
                  <a:srgbClr val="000000"/>
                </a:solidFill>
                <a:latin typeface="Amazon Ember"/>
              </a:endParaRPr>
            </a:p>
          </p:txBody>
        </p:sp>
      </p:grpSp>
      <p:sp>
        <p:nvSpPr>
          <p:cNvPr id="36" name="TextBox 12">
            <a:extLst>
              <a:ext uri="{FF2B5EF4-FFF2-40B4-BE49-F238E27FC236}">
                <a16:creationId xmlns:a16="http://schemas.microsoft.com/office/drawing/2014/main" id="{9A40F140-BFAD-6AEA-811D-3D6BA5F1F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8555" y="850625"/>
            <a:ext cx="2279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Bedrock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Claude 3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42BE139-C049-2767-BC3E-FBFE8B4E1E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04118" y="131323"/>
            <a:ext cx="688524" cy="688524"/>
          </a:xfrm>
          <a:prstGeom prst="rect">
            <a:avLst/>
          </a:prstGeom>
        </p:spPr>
      </p:pic>
      <p:cxnSp>
        <p:nvCxnSpPr>
          <p:cNvPr id="38" name="Straight Arrow Connector 37" descr="Double pointing horizontal arrow.">
            <a:extLst>
              <a:ext uri="{FF2B5EF4-FFF2-40B4-BE49-F238E27FC236}">
                <a16:creationId xmlns:a16="http://schemas.microsoft.com/office/drawing/2014/main" id="{917B5C16-7581-152B-D64C-FE01C74F894F}"/>
              </a:ext>
            </a:extLst>
          </p:cNvPr>
          <p:cNvCxnSpPr>
            <a:cxnSpLocks/>
            <a:stCxn id="5" idx="3"/>
            <a:endCxn id="37" idx="1"/>
          </p:cNvCxnSpPr>
          <p:nvPr/>
        </p:nvCxnSpPr>
        <p:spPr>
          <a:xfrm flipV="1">
            <a:off x="5718573" y="475585"/>
            <a:ext cx="4985545" cy="2784169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9C0B4D1-99B2-6C0E-02AB-C9CD21E5506E}"/>
              </a:ext>
            </a:extLst>
          </p:cNvPr>
          <p:cNvSpPr txBox="1"/>
          <p:nvPr/>
        </p:nvSpPr>
        <p:spPr>
          <a:xfrm rot="20006402">
            <a:off x="7686684" y="1329908"/>
            <a:ext cx="19804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/generateCloudFormation</a:t>
            </a:r>
          </a:p>
          <a:p>
            <a:endParaRPr lang="en-US" sz="100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12">
            <a:extLst>
              <a:ext uri="{FF2B5EF4-FFF2-40B4-BE49-F238E27FC236}">
                <a16:creationId xmlns:a16="http://schemas.microsoft.com/office/drawing/2014/main" id="{BD85D8C7-0F6F-60BE-076F-ED723E6F9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69059" y="2238016"/>
            <a:ext cx="2279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Bedrock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Claude 3</a:t>
            </a: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08FDF9F8-782A-CB93-286C-9E63D24A99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4622" y="1518714"/>
            <a:ext cx="688524" cy="688524"/>
          </a:xfrm>
          <a:prstGeom prst="rect">
            <a:avLst/>
          </a:prstGeom>
        </p:spPr>
      </p:pic>
      <p:sp>
        <p:nvSpPr>
          <p:cNvPr id="45" name="TextBox 12">
            <a:extLst>
              <a:ext uri="{FF2B5EF4-FFF2-40B4-BE49-F238E27FC236}">
                <a16:creationId xmlns:a16="http://schemas.microsoft.com/office/drawing/2014/main" id="{1522B7C3-44C7-51B9-7C80-40550993C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5409" y="5038465"/>
            <a:ext cx="2279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Bedrock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Claude 3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E3CC13C3-5D4A-35B1-B6E4-50ED748C94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0972" y="4319163"/>
            <a:ext cx="688524" cy="688524"/>
          </a:xfrm>
          <a:prstGeom prst="rect">
            <a:avLst/>
          </a:prstGeom>
        </p:spPr>
      </p:pic>
      <p:sp>
        <p:nvSpPr>
          <p:cNvPr id="48" name="TextBox 12">
            <a:extLst>
              <a:ext uri="{FF2B5EF4-FFF2-40B4-BE49-F238E27FC236}">
                <a16:creationId xmlns:a16="http://schemas.microsoft.com/office/drawing/2014/main" id="{E5E38A81-26E3-A576-CCC0-6CE4671B1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2147" y="6446355"/>
            <a:ext cx="2279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Bedrock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Claude 3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7EC867BB-1C77-9109-EBCD-CAFB452753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37710" y="5727053"/>
            <a:ext cx="688524" cy="688524"/>
          </a:xfrm>
          <a:prstGeom prst="rect">
            <a:avLst/>
          </a:prstGeom>
        </p:spPr>
      </p:pic>
      <p:pic>
        <p:nvPicPr>
          <p:cNvPr id="50" name="Graphic 21" descr="AWS CloudFormation service icon.">
            <a:extLst>
              <a:ext uri="{FF2B5EF4-FFF2-40B4-BE49-F238E27FC236}">
                <a16:creationId xmlns:a16="http://schemas.microsoft.com/office/drawing/2014/main" id="{EE1FD4F8-353B-201D-387E-C2B1DA90A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10564234" y="289953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" name="TextBox 12">
            <a:extLst>
              <a:ext uri="{FF2B5EF4-FFF2-40B4-BE49-F238E27FC236}">
                <a16:creationId xmlns:a16="http://schemas.microsoft.com/office/drawing/2014/main" id="{17E6ACD3-BFCE-045A-B739-DF1DEC6E4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5409" y="3661353"/>
            <a:ext cx="2279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CloudFormation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API</a:t>
            </a:r>
          </a:p>
        </p:txBody>
      </p:sp>
      <p:cxnSp>
        <p:nvCxnSpPr>
          <p:cNvPr id="53" name="Straight Arrow Connector 52" descr="Double pointing horizontal arrow.">
            <a:extLst>
              <a:ext uri="{FF2B5EF4-FFF2-40B4-BE49-F238E27FC236}">
                <a16:creationId xmlns:a16="http://schemas.microsoft.com/office/drawing/2014/main" id="{608250C1-B28F-C22B-996C-7044A685FDA7}"/>
              </a:ext>
            </a:extLst>
          </p:cNvPr>
          <p:cNvCxnSpPr>
            <a:cxnSpLocks/>
            <a:stCxn id="5" idx="3"/>
            <a:endCxn id="44" idx="1"/>
          </p:cNvCxnSpPr>
          <p:nvPr/>
        </p:nvCxnSpPr>
        <p:spPr>
          <a:xfrm flipV="1">
            <a:off x="5718573" y="1862976"/>
            <a:ext cx="4946049" cy="1396778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 descr="Double pointing horizontal arrow.">
            <a:extLst>
              <a:ext uri="{FF2B5EF4-FFF2-40B4-BE49-F238E27FC236}">
                <a16:creationId xmlns:a16="http://schemas.microsoft.com/office/drawing/2014/main" id="{0AFD5B64-FD50-911E-55EA-6ABC5DD8931B}"/>
              </a:ext>
            </a:extLst>
          </p:cNvPr>
          <p:cNvCxnSpPr>
            <a:cxnSpLocks/>
            <a:stCxn id="5" idx="3"/>
            <a:endCxn id="46" idx="1"/>
          </p:cNvCxnSpPr>
          <p:nvPr/>
        </p:nvCxnSpPr>
        <p:spPr>
          <a:xfrm>
            <a:off x="5718573" y="3259754"/>
            <a:ext cx="4882399" cy="1403671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 descr="Double pointing horizontal arrow.">
            <a:extLst>
              <a:ext uri="{FF2B5EF4-FFF2-40B4-BE49-F238E27FC236}">
                <a16:creationId xmlns:a16="http://schemas.microsoft.com/office/drawing/2014/main" id="{772997A2-4426-03F0-6057-0E0B19E4B2AE}"/>
              </a:ext>
            </a:extLst>
          </p:cNvPr>
          <p:cNvCxnSpPr>
            <a:cxnSpLocks/>
            <a:stCxn id="5" idx="3"/>
            <a:endCxn id="49" idx="1"/>
          </p:cNvCxnSpPr>
          <p:nvPr/>
        </p:nvCxnSpPr>
        <p:spPr>
          <a:xfrm>
            <a:off x="5718573" y="3259754"/>
            <a:ext cx="4919137" cy="2811561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59ABF0E-7B31-F177-3CA6-C705FE686637}"/>
              </a:ext>
            </a:extLst>
          </p:cNvPr>
          <p:cNvSpPr txBox="1"/>
          <p:nvPr/>
        </p:nvSpPr>
        <p:spPr>
          <a:xfrm rot="20665020">
            <a:off x="7854040" y="2113474"/>
            <a:ext cx="19804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/reiterateCloudFormation</a:t>
            </a:r>
          </a:p>
          <a:p>
            <a:endParaRPr lang="en-US" sz="100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FF08E1D-B12E-9BAE-19F0-4C574A9C853A}"/>
              </a:ext>
            </a:extLst>
          </p:cNvPr>
          <p:cNvSpPr txBox="1"/>
          <p:nvPr/>
        </p:nvSpPr>
        <p:spPr>
          <a:xfrm rot="934565">
            <a:off x="7961974" y="4201413"/>
            <a:ext cx="19804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/resolveError</a:t>
            </a:r>
          </a:p>
          <a:p>
            <a:endParaRPr lang="en-US" sz="100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EA8B34E-7BE5-8725-AD56-AC6A68BAE10B}"/>
              </a:ext>
            </a:extLst>
          </p:cNvPr>
          <p:cNvSpPr txBox="1"/>
          <p:nvPr/>
        </p:nvSpPr>
        <p:spPr>
          <a:xfrm rot="2068846">
            <a:off x="7658588" y="5009654"/>
            <a:ext cx="18709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dirty="0">
                <a:solidFill>
                  <a:srgbClr val="333333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/updateCloudFormation</a:t>
            </a:r>
            <a:endParaRPr lang="en-US" sz="100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D411BC5-785B-3393-472D-D62469331C7E}"/>
              </a:ext>
            </a:extLst>
          </p:cNvPr>
          <p:cNvGrpSpPr/>
          <p:nvPr/>
        </p:nvGrpSpPr>
        <p:grpSpPr>
          <a:xfrm>
            <a:off x="2862315" y="86962"/>
            <a:ext cx="4402182" cy="1920240"/>
            <a:chOff x="6988629" y="1998804"/>
            <a:chExt cx="4402182" cy="1920240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07CAE54-7F06-9DA0-2726-2C21535CD284}"/>
                </a:ext>
              </a:extLst>
            </p:cNvPr>
            <p:cNvSpPr/>
            <p:nvPr/>
          </p:nvSpPr>
          <p:spPr>
            <a:xfrm>
              <a:off x="6988629" y="1998804"/>
              <a:ext cx="4402182" cy="1920240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3" name="Graphic 82" descr="Database resource icon for the General Icons category.">
              <a:extLst>
                <a:ext uri="{FF2B5EF4-FFF2-40B4-BE49-F238E27FC236}">
                  <a16:creationId xmlns:a16="http://schemas.microsoft.com/office/drawing/2014/main" id="{8BA28150-940B-413C-7BAE-6C1FAA922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040781" y="2381590"/>
              <a:ext cx="758952" cy="762000"/>
            </a:xfrm>
            <a:prstGeom prst="rect">
              <a:avLst/>
            </a:prstGeom>
          </p:spPr>
        </p:pic>
        <p:sp>
          <p:nvSpPr>
            <p:cNvPr id="84" name="TextBox 28">
              <a:extLst>
                <a:ext uri="{FF2B5EF4-FFF2-40B4-BE49-F238E27FC236}">
                  <a16:creationId xmlns:a16="http://schemas.microsoft.com/office/drawing/2014/main" id="{624A73ED-0766-F011-579F-2354046722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66591" y="3125435"/>
              <a:ext cx="131037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Knowledge Base</a:t>
              </a:r>
            </a:p>
          </p:txBody>
        </p:sp>
        <p:pic>
          <p:nvPicPr>
            <p:cNvPr id="85" name="Graphic 84" descr="Amazon Bedrock service icon.">
              <a:extLst>
                <a:ext uri="{FF2B5EF4-FFF2-40B4-BE49-F238E27FC236}">
                  <a16:creationId xmlns:a16="http://schemas.microsoft.com/office/drawing/2014/main" id="{7598FE1F-3F18-5BF1-0673-7797087133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7984655" y="2378111"/>
              <a:ext cx="762000" cy="762000"/>
            </a:xfrm>
            <a:prstGeom prst="rect">
              <a:avLst/>
            </a:prstGeom>
          </p:spPr>
        </p:pic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47683A04-51D0-3F14-992E-FCE4A50D3352}"/>
                </a:ext>
              </a:extLst>
            </p:cNvPr>
            <p:cNvSpPr txBox="1"/>
            <p:nvPr/>
          </p:nvSpPr>
          <p:spPr>
            <a:xfrm>
              <a:off x="7364714" y="3147386"/>
              <a:ext cx="200188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Amazon Bedrock</a:t>
              </a:r>
            </a:p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Titan Embeddings</a:t>
              </a:r>
            </a:p>
          </p:txBody>
        </p:sp>
        <p:cxnSp>
          <p:nvCxnSpPr>
            <p:cNvPr id="87" name="Straight Arrow Connector 86" descr="Double pointing horizontal arrow.">
              <a:extLst>
                <a:ext uri="{FF2B5EF4-FFF2-40B4-BE49-F238E27FC236}">
                  <a16:creationId xmlns:a16="http://schemas.microsoft.com/office/drawing/2014/main" id="{D9BEBE3E-1CDA-F86F-9F11-929173C02B95}"/>
                </a:ext>
              </a:extLst>
            </p:cNvPr>
            <p:cNvCxnSpPr>
              <a:cxnSpLocks/>
              <a:stCxn id="83" idx="1"/>
              <a:endCxn id="85" idx="3"/>
            </p:cNvCxnSpPr>
            <p:nvPr/>
          </p:nvCxnSpPr>
          <p:spPr>
            <a:xfrm flipH="1" flipV="1">
              <a:off x="8746655" y="2759111"/>
              <a:ext cx="1294126" cy="3479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arrow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25236BB-4402-B67F-6E76-735D614DFC6A}"/>
                </a:ext>
              </a:extLst>
            </p:cNvPr>
            <p:cNvSpPr txBox="1"/>
            <p:nvPr/>
          </p:nvSpPr>
          <p:spPr>
            <a:xfrm>
              <a:off x="8772153" y="2387433"/>
              <a:ext cx="132454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hangingPunct="1"/>
              <a:r>
                <a:rPr lang="en-US" altLang="en-US" sz="1000" i="1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Similar </a:t>
              </a:r>
            </a:p>
            <a:p>
              <a:pPr algn="ctr" eaLnBrk="1" hangingPunct="1"/>
              <a:r>
                <a:rPr lang="en-US" altLang="en-US" sz="1000" i="1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Documents</a:t>
              </a:r>
            </a:p>
          </p:txBody>
        </p:sp>
      </p:grpSp>
      <p:cxnSp>
        <p:nvCxnSpPr>
          <p:cNvPr id="89" name="Straight Arrow Connector 88" descr="Left pointing horizontal arrow. ">
            <a:extLst>
              <a:ext uri="{FF2B5EF4-FFF2-40B4-BE49-F238E27FC236}">
                <a16:creationId xmlns:a16="http://schemas.microsoft.com/office/drawing/2014/main" id="{5986AC43-5B7D-F367-DF56-561E826CDE5C}"/>
              </a:ext>
            </a:extLst>
          </p:cNvPr>
          <p:cNvCxnSpPr>
            <a:cxnSpLocks/>
          </p:cNvCxnSpPr>
          <p:nvPr/>
        </p:nvCxnSpPr>
        <p:spPr>
          <a:xfrm>
            <a:off x="5133180" y="2039083"/>
            <a:ext cx="0" cy="850212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AC4B1CF3-9939-5FE3-4524-0D07C331F021}"/>
              </a:ext>
            </a:extLst>
          </p:cNvPr>
          <p:cNvSpPr txBox="1"/>
          <p:nvPr/>
        </p:nvSpPr>
        <p:spPr>
          <a:xfrm>
            <a:off x="4163616" y="2032039"/>
            <a:ext cx="88606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endParaRPr lang="en-US" altLang="en-US" sz="1000" i="1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en-US" sz="10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query</a:t>
            </a:r>
          </a:p>
          <a:p>
            <a:pPr algn="ctr" eaLnBrk="1" hangingPunct="1"/>
            <a:r>
              <a:rPr lang="en-US" altLang="en-US" sz="10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= </a:t>
            </a:r>
          </a:p>
          <a:p>
            <a:pPr algn="ctr" eaLnBrk="1" hangingPunct="1"/>
            <a:r>
              <a:rPr lang="en-US" altLang="en-US" sz="10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step-by-step </a:t>
            </a:r>
          </a:p>
          <a:p>
            <a:pPr algn="ctr" eaLnBrk="1" hangingPunct="1"/>
            <a:r>
              <a:rPr lang="en-US" altLang="en-US" sz="10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explanation</a:t>
            </a:r>
          </a:p>
          <a:p>
            <a:pPr algn="ctr" eaLnBrk="1" hangingPunct="1"/>
            <a:endParaRPr lang="en-US" altLang="en-US" sz="1000" i="1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cxnSp>
        <p:nvCxnSpPr>
          <p:cNvPr id="91" name="Straight Arrow Connector 90" descr="Left pointing horizontal arrow. ">
            <a:extLst>
              <a:ext uri="{FF2B5EF4-FFF2-40B4-BE49-F238E27FC236}">
                <a16:creationId xmlns:a16="http://schemas.microsoft.com/office/drawing/2014/main" id="{DE60A5FD-39DA-A6C0-633F-3C30BC44BB41}"/>
              </a:ext>
            </a:extLst>
          </p:cNvPr>
          <p:cNvCxnSpPr>
            <a:cxnSpLocks/>
          </p:cNvCxnSpPr>
          <p:nvPr/>
        </p:nvCxnSpPr>
        <p:spPr>
          <a:xfrm flipV="1">
            <a:off x="5506053" y="2027612"/>
            <a:ext cx="7301" cy="851142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0F984164-85C6-C9E6-E681-4E83A6DCAC0D}"/>
              </a:ext>
            </a:extLst>
          </p:cNvPr>
          <p:cNvSpPr txBox="1"/>
          <p:nvPr/>
        </p:nvSpPr>
        <p:spPr>
          <a:xfrm>
            <a:off x="5544853" y="2317445"/>
            <a:ext cx="762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0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similar </a:t>
            </a:r>
          </a:p>
          <a:p>
            <a:pPr algn="ctr" eaLnBrk="1" hangingPunct="1"/>
            <a:r>
              <a:rPr lang="en-US" altLang="en-US" sz="10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templates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EA85D58-2F0A-0540-497F-E10AEF16E238}"/>
              </a:ext>
            </a:extLst>
          </p:cNvPr>
          <p:cNvSpPr txBox="1"/>
          <p:nvPr/>
        </p:nvSpPr>
        <p:spPr>
          <a:xfrm>
            <a:off x="168153" y="99909"/>
            <a:ext cx="26018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Agents for Amazon</a:t>
            </a:r>
          </a:p>
          <a:p>
            <a:r>
              <a:rPr lang="en-US" sz="2400" b="1" dirty="0"/>
              <a:t>Bedrock</a:t>
            </a:r>
          </a:p>
        </p:txBody>
      </p:sp>
    </p:spTree>
    <p:extLst>
      <p:ext uri="{BB962C8B-B14F-4D97-AF65-F5344CB8AC3E}">
        <p14:creationId xmlns:p14="http://schemas.microsoft.com/office/powerpoint/2010/main" val="964156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 descr="Database resource icon for the General Icons category.">
            <a:extLst>
              <a:ext uri="{FF2B5EF4-FFF2-40B4-BE49-F238E27FC236}">
                <a16:creationId xmlns:a16="http://schemas.microsoft.com/office/drawing/2014/main" id="{DC344556-A328-5A1C-5040-7F2A4E55DC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7649" y="2911997"/>
            <a:ext cx="758952" cy="762000"/>
          </a:xfrm>
          <a:prstGeom prst="rect">
            <a:avLst/>
          </a:prstGeom>
        </p:spPr>
      </p:pic>
      <p:sp>
        <p:nvSpPr>
          <p:cNvPr id="7" name="TextBox 28">
            <a:extLst>
              <a:ext uri="{FF2B5EF4-FFF2-40B4-BE49-F238E27FC236}">
                <a16:creationId xmlns:a16="http://schemas.microsoft.com/office/drawing/2014/main" id="{A7855266-990C-EFAB-EC04-6E4204C7D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3459" y="3655842"/>
            <a:ext cx="131037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Vector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</a:p>
        </p:txBody>
      </p:sp>
      <p:pic>
        <p:nvPicPr>
          <p:cNvPr id="8" name="Graphic 7" descr="Amazon Bedrock service icon.">
            <a:extLst>
              <a:ext uri="{FF2B5EF4-FFF2-40B4-BE49-F238E27FC236}">
                <a16:creationId xmlns:a16="http://schemas.microsoft.com/office/drawing/2014/main" id="{6AA763B0-38D4-74B7-B847-06051669E1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379768" y="88174"/>
            <a:ext cx="762000" cy="76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069D06-E182-EDD5-D820-9529204DEA32}"/>
              </a:ext>
            </a:extLst>
          </p:cNvPr>
          <p:cNvSpPr txBox="1"/>
          <p:nvPr/>
        </p:nvSpPr>
        <p:spPr>
          <a:xfrm>
            <a:off x="7906467" y="238341"/>
            <a:ext cx="20018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Bedrock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Titan Embeddings</a:t>
            </a:r>
          </a:p>
        </p:txBody>
      </p:sp>
      <p:pic>
        <p:nvPicPr>
          <p:cNvPr id="13" name="Graphic 8" descr="Amazon Simple Storage Service (Amazon S3) service icon.">
            <a:extLst>
              <a:ext uri="{FF2B5EF4-FFF2-40B4-BE49-F238E27FC236}">
                <a16:creationId xmlns:a16="http://schemas.microsoft.com/office/drawing/2014/main" id="{92C91F6F-8F7B-BD76-E5E7-6B4D5F07D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1102772" y="151079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9">
            <a:extLst>
              <a:ext uri="{FF2B5EF4-FFF2-40B4-BE49-F238E27FC236}">
                <a16:creationId xmlns:a16="http://schemas.microsoft.com/office/drawing/2014/main" id="{2E558EBA-65A2-69C0-D5AB-88ED72525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997" y="2274379"/>
            <a:ext cx="22399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S3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(data source)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CC72AD-6E84-333E-977D-4E16A429A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13211" y="955065"/>
            <a:ext cx="5196565" cy="1709928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Pre-Processing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6F59A4-BBA5-C369-40A8-73FCE1EC0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30632" y="1283544"/>
            <a:ext cx="2259021" cy="1206707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7A897F-139D-C0B5-86CC-DCA38DC00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16118" y="1283543"/>
            <a:ext cx="2259021" cy="1206707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C3482DD1-26DE-E4E8-DC39-561488BCE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553" y="4834419"/>
            <a:ext cx="223996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User query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=</a:t>
            </a:r>
          </a:p>
          <a:p>
            <a:pPr algn="ctr"/>
            <a:r>
              <a:rPr lang="en-US" sz="1200" dirty="0"/>
              <a:t>step-by-step explain</a:t>
            </a:r>
          </a:p>
          <a:p>
            <a:pPr algn="ctr" eaLnBrk="1" hangingPunct="1"/>
            <a:endParaRPr lang="en-US" altLang="en-US" sz="12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AFB090-62C4-08F4-A471-83CAAA88B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36287" y="4211391"/>
            <a:ext cx="5196565" cy="1709928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Retrieve</a:t>
            </a:r>
          </a:p>
        </p:txBody>
      </p:sp>
      <p:pic>
        <p:nvPicPr>
          <p:cNvPr id="24" name="Graphic 23" descr="Amazon Bedrock service icon.">
            <a:extLst>
              <a:ext uri="{FF2B5EF4-FFF2-40B4-BE49-F238E27FC236}">
                <a16:creationId xmlns:a16="http://schemas.microsoft.com/office/drawing/2014/main" id="{FBE98BD5-1690-488A-A3FA-6F64E04F80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88968" y="6042931"/>
            <a:ext cx="762000" cy="7620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1EB7E46-6A85-B4B1-AD0D-20AEA04F4835}"/>
              </a:ext>
            </a:extLst>
          </p:cNvPr>
          <p:cNvSpPr txBox="1"/>
          <p:nvPr/>
        </p:nvSpPr>
        <p:spPr>
          <a:xfrm>
            <a:off x="5315667" y="6193098"/>
            <a:ext cx="20018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Bedrock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Titan Embeddings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6AEE11-8D23-7641-9131-3DDB7A2171C8}"/>
              </a:ext>
            </a:extLst>
          </p:cNvPr>
          <p:cNvSpPr txBox="1"/>
          <p:nvPr/>
        </p:nvSpPr>
        <p:spPr>
          <a:xfrm>
            <a:off x="7092957" y="1540098"/>
            <a:ext cx="13356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Generate </a:t>
            </a:r>
          </a:p>
          <a:p>
            <a:pPr algn="ctr"/>
            <a:r>
              <a:rPr lang="en-US" dirty="0"/>
              <a:t>Embeddings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B40D7E-FCD9-5AF3-ECFE-61630A5F2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72577" y="4567442"/>
            <a:ext cx="2259021" cy="1206707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EA2AF9-3987-1268-DEB1-BA84E491DCC7}"/>
              </a:ext>
            </a:extLst>
          </p:cNvPr>
          <p:cNvSpPr txBox="1"/>
          <p:nvPr/>
        </p:nvSpPr>
        <p:spPr>
          <a:xfrm>
            <a:off x="4492209" y="4834419"/>
            <a:ext cx="13356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Generate </a:t>
            </a:r>
          </a:p>
          <a:p>
            <a:pPr algn="ctr"/>
            <a:r>
              <a:rPr lang="en-US" dirty="0"/>
              <a:t>Embeddings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5EF2CC-5319-9ADE-F7C7-47E348ED2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07243" y="4567442"/>
            <a:ext cx="2259021" cy="1206707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05D209-08A3-FD0A-5D7A-F73A5234CD3D}"/>
              </a:ext>
            </a:extLst>
          </p:cNvPr>
          <p:cNvSpPr txBox="1"/>
          <p:nvPr/>
        </p:nvSpPr>
        <p:spPr>
          <a:xfrm>
            <a:off x="7133793" y="4733020"/>
            <a:ext cx="12341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Retrieve </a:t>
            </a:r>
          </a:p>
          <a:p>
            <a:pPr algn="ctr"/>
            <a:r>
              <a:rPr lang="en-US" dirty="0"/>
              <a:t>similar</a:t>
            </a:r>
          </a:p>
          <a:p>
            <a:pPr algn="ctr"/>
            <a:r>
              <a:rPr lang="en-US" dirty="0"/>
              <a:t>documents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EE3C0A-C504-726F-51BE-65C3BBDED3C6}"/>
              </a:ext>
            </a:extLst>
          </p:cNvPr>
          <p:cNvSpPr txBox="1"/>
          <p:nvPr/>
        </p:nvSpPr>
        <p:spPr>
          <a:xfrm>
            <a:off x="4274617" y="1314463"/>
            <a:ext cx="15107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step-by-step explain</a:t>
            </a:r>
          </a:p>
          <a:p>
            <a:pPr algn="ctr"/>
            <a:r>
              <a:rPr lang="en-US" sz="1200" dirty="0"/>
              <a:t>+ </a:t>
            </a:r>
          </a:p>
          <a:p>
            <a:pPr algn="ctr"/>
            <a:r>
              <a:rPr lang="en-US" sz="1200" dirty="0"/>
              <a:t>(S3 URI) template </a:t>
            </a:r>
          </a:p>
          <a:p>
            <a:pPr algn="ctr"/>
            <a:r>
              <a:rPr lang="en-US" sz="1200" dirty="0"/>
              <a:t>+ </a:t>
            </a:r>
          </a:p>
          <a:p>
            <a:pPr algn="ctr"/>
            <a:r>
              <a:rPr lang="en-US" sz="1200" dirty="0"/>
              <a:t>(S3 URI) architecture </a:t>
            </a:r>
          </a:p>
          <a:p>
            <a:pPr algn="ctr"/>
            <a:r>
              <a:rPr lang="en-US" sz="1200" dirty="0"/>
              <a:t>image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B7A999-91D1-7E8F-8F1A-A3F9AA706359}"/>
              </a:ext>
            </a:extLst>
          </p:cNvPr>
          <p:cNvSpPr/>
          <p:nvPr/>
        </p:nvSpPr>
        <p:spPr>
          <a:xfrm>
            <a:off x="656938" y="4721155"/>
            <a:ext cx="1765300" cy="890588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EB0983A-CF20-37C2-0A56-74FB354203D2}"/>
              </a:ext>
            </a:extLst>
          </p:cNvPr>
          <p:cNvSpPr/>
          <p:nvPr/>
        </p:nvSpPr>
        <p:spPr>
          <a:xfrm>
            <a:off x="9812264" y="4731904"/>
            <a:ext cx="1765300" cy="890588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AA3E7C-F39C-4212-B671-1809DD291E4E}"/>
              </a:ext>
            </a:extLst>
          </p:cNvPr>
          <p:cNvSpPr txBox="1"/>
          <p:nvPr/>
        </p:nvSpPr>
        <p:spPr>
          <a:xfrm>
            <a:off x="9769762" y="4658617"/>
            <a:ext cx="189103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User Response</a:t>
            </a:r>
          </a:p>
          <a:p>
            <a:pPr algn="ctr"/>
            <a:r>
              <a:rPr lang="en-US" sz="1200" dirty="0"/>
              <a:t>=</a:t>
            </a:r>
          </a:p>
          <a:p>
            <a:pPr algn="ctr"/>
            <a:r>
              <a:rPr lang="en-US" sz="1200" dirty="0"/>
              <a:t>(S3 URI) template </a:t>
            </a:r>
          </a:p>
          <a:p>
            <a:pPr algn="ctr"/>
            <a:r>
              <a:rPr lang="en-US" sz="1200" dirty="0"/>
              <a:t>+ </a:t>
            </a:r>
          </a:p>
          <a:p>
            <a:pPr algn="ctr"/>
            <a:r>
              <a:rPr lang="en-US" sz="1200" dirty="0"/>
              <a:t>(S3 URI) architecture image</a:t>
            </a:r>
          </a:p>
        </p:txBody>
      </p:sp>
      <p:cxnSp>
        <p:nvCxnSpPr>
          <p:cNvPr id="35" name="Straight Arrow Connector 34" descr="Left pointing horizontal arrow. ">
            <a:extLst>
              <a:ext uri="{FF2B5EF4-FFF2-40B4-BE49-F238E27FC236}">
                <a16:creationId xmlns:a16="http://schemas.microsoft.com/office/drawing/2014/main" id="{7DBDF60B-7DDA-7359-C17A-ABCAC3DCAB79}"/>
              </a:ext>
            </a:extLst>
          </p:cNvPr>
          <p:cNvCxnSpPr>
            <a:cxnSpLocks/>
            <a:stCxn id="20" idx="1"/>
            <a:endCxn id="13" idx="3"/>
          </p:cNvCxnSpPr>
          <p:nvPr/>
        </p:nvCxnSpPr>
        <p:spPr>
          <a:xfrm flipH="1">
            <a:off x="1864772" y="1886898"/>
            <a:ext cx="2165860" cy="4894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 descr="Left pointing horizontal arrow. ">
            <a:extLst>
              <a:ext uri="{FF2B5EF4-FFF2-40B4-BE49-F238E27FC236}">
                <a16:creationId xmlns:a16="http://schemas.microsoft.com/office/drawing/2014/main" id="{2041CC90-269D-6D94-5D0B-F32ADD6E6C66}"/>
              </a:ext>
            </a:extLst>
          </p:cNvPr>
          <p:cNvCxnSpPr>
            <a:cxnSpLocks/>
          </p:cNvCxnSpPr>
          <p:nvPr/>
        </p:nvCxnSpPr>
        <p:spPr>
          <a:xfrm>
            <a:off x="7583648" y="850174"/>
            <a:ext cx="0" cy="433369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 descr="Left pointing horizontal arrow. ">
            <a:extLst>
              <a:ext uri="{FF2B5EF4-FFF2-40B4-BE49-F238E27FC236}">
                <a16:creationId xmlns:a16="http://schemas.microsoft.com/office/drawing/2014/main" id="{779DB530-0DD5-E202-AFB0-C47B37313612}"/>
              </a:ext>
            </a:extLst>
          </p:cNvPr>
          <p:cNvCxnSpPr>
            <a:cxnSpLocks/>
          </p:cNvCxnSpPr>
          <p:nvPr/>
        </p:nvCxnSpPr>
        <p:spPr>
          <a:xfrm flipV="1">
            <a:off x="7906467" y="850174"/>
            <a:ext cx="0" cy="433369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 descr="Left pointing horizontal arrow. ">
            <a:extLst>
              <a:ext uri="{FF2B5EF4-FFF2-40B4-BE49-F238E27FC236}">
                <a16:creationId xmlns:a16="http://schemas.microsoft.com/office/drawing/2014/main" id="{28E16119-CE03-A2D0-A313-656C98FA5793}"/>
              </a:ext>
            </a:extLst>
          </p:cNvPr>
          <p:cNvCxnSpPr>
            <a:cxnSpLocks/>
            <a:stCxn id="6" idx="0"/>
            <a:endCxn id="21" idx="2"/>
          </p:cNvCxnSpPr>
          <p:nvPr/>
        </p:nvCxnSpPr>
        <p:spPr>
          <a:xfrm flipV="1">
            <a:off x="7737125" y="2490250"/>
            <a:ext cx="8504" cy="421747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 descr="Left pointing horizontal arrow. ">
            <a:extLst>
              <a:ext uri="{FF2B5EF4-FFF2-40B4-BE49-F238E27FC236}">
                <a16:creationId xmlns:a16="http://schemas.microsoft.com/office/drawing/2014/main" id="{DA0362DD-1546-69BC-1760-7DF62CF9C4E6}"/>
              </a:ext>
            </a:extLst>
          </p:cNvPr>
          <p:cNvCxnSpPr>
            <a:cxnSpLocks/>
            <a:stCxn id="7" idx="2"/>
            <a:endCxn id="29" idx="0"/>
          </p:cNvCxnSpPr>
          <p:nvPr/>
        </p:nvCxnSpPr>
        <p:spPr>
          <a:xfrm flipH="1">
            <a:off x="7736754" y="4117507"/>
            <a:ext cx="1895" cy="449935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 descr="Left pointing horizontal arrow. ">
            <a:extLst>
              <a:ext uri="{FF2B5EF4-FFF2-40B4-BE49-F238E27FC236}">
                <a16:creationId xmlns:a16="http://schemas.microsoft.com/office/drawing/2014/main" id="{A5FCED0D-27D7-0733-34E3-6E5412F7F757}"/>
              </a:ext>
            </a:extLst>
          </p:cNvPr>
          <p:cNvCxnSpPr>
            <a:cxnSpLocks/>
            <a:stCxn id="33" idx="1"/>
            <a:endCxn id="29" idx="3"/>
          </p:cNvCxnSpPr>
          <p:nvPr/>
        </p:nvCxnSpPr>
        <p:spPr>
          <a:xfrm flipH="1" flipV="1">
            <a:off x="8866264" y="5170796"/>
            <a:ext cx="946000" cy="6402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 descr="Left pointing horizontal arrow. ">
            <a:extLst>
              <a:ext uri="{FF2B5EF4-FFF2-40B4-BE49-F238E27FC236}">
                <a16:creationId xmlns:a16="http://schemas.microsoft.com/office/drawing/2014/main" id="{113934B5-540F-39F2-ED3C-9417D48B78E9}"/>
              </a:ext>
            </a:extLst>
          </p:cNvPr>
          <p:cNvCxnSpPr>
            <a:cxnSpLocks/>
            <a:stCxn id="27" idx="1"/>
            <a:endCxn id="32" idx="3"/>
          </p:cNvCxnSpPr>
          <p:nvPr/>
        </p:nvCxnSpPr>
        <p:spPr>
          <a:xfrm flipH="1" flipV="1">
            <a:off x="2422238" y="5166449"/>
            <a:ext cx="1650339" cy="4347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 descr="Left pointing horizontal arrow. ">
            <a:extLst>
              <a:ext uri="{FF2B5EF4-FFF2-40B4-BE49-F238E27FC236}">
                <a16:creationId xmlns:a16="http://schemas.microsoft.com/office/drawing/2014/main" id="{9F7B6E9F-45A6-7E6D-C060-267C5FEAA4A1}"/>
              </a:ext>
            </a:extLst>
          </p:cNvPr>
          <p:cNvCxnSpPr>
            <a:cxnSpLocks/>
            <a:stCxn id="21" idx="1"/>
            <a:endCxn id="20" idx="3"/>
          </p:cNvCxnSpPr>
          <p:nvPr/>
        </p:nvCxnSpPr>
        <p:spPr>
          <a:xfrm flipH="1">
            <a:off x="6289653" y="1886897"/>
            <a:ext cx="326465" cy="1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 descr="Left pointing horizontal arrow. ">
            <a:extLst>
              <a:ext uri="{FF2B5EF4-FFF2-40B4-BE49-F238E27FC236}">
                <a16:creationId xmlns:a16="http://schemas.microsoft.com/office/drawing/2014/main" id="{FEFF95F1-2907-4717-677A-B58E89E4CD53}"/>
              </a:ext>
            </a:extLst>
          </p:cNvPr>
          <p:cNvCxnSpPr>
            <a:cxnSpLocks/>
            <a:stCxn id="29" idx="1"/>
            <a:endCxn id="27" idx="3"/>
          </p:cNvCxnSpPr>
          <p:nvPr/>
        </p:nvCxnSpPr>
        <p:spPr>
          <a:xfrm flipH="1">
            <a:off x="6331598" y="5170796"/>
            <a:ext cx="275645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 descr="Left pointing horizontal arrow. ">
            <a:extLst>
              <a:ext uri="{FF2B5EF4-FFF2-40B4-BE49-F238E27FC236}">
                <a16:creationId xmlns:a16="http://schemas.microsoft.com/office/drawing/2014/main" id="{1B0F9D0A-2B57-7900-7BA5-8C87D3FCDE8A}"/>
              </a:ext>
            </a:extLst>
          </p:cNvPr>
          <p:cNvCxnSpPr>
            <a:cxnSpLocks/>
          </p:cNvCxnSpPr>
          <p:nvPr/>
        </p:nvCxnSpPr>
        <p:spPr>
          <a:xfrm flipV="1">
            <a:off x="5033394" y="5774149"/>
            <a:ext cx="0" cy="268782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 descr="Left pointing horizontal arrow. ">
            <a:extLst>
              <a:ext uri="{FF2B5EF4-FFF2-40B4-BE49-F238E27FC236}">
                <a16:creationId xmlns:a16="http://schemas.microsoft.com/office/drawing/2014/main" id="{AA3B6423-8B6D-3BC9-4F91-18E365661DFE}"/>
              </a:ext>
            </a:extLst>
          </p:cNvPr>
          <p:cNvCxnSpPr>
            <a:cxnSpLocks/>
          </p:cNvCxnSpPr>
          <p:nvPr/>
        </p:nvCxnSpPr>
        <p:spPr>
          <a:xfrm>
            <a:off x="5269200" y="5774149"/>
            <a:ext cx="0" cy="266977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D3FB8D29-6B40-64C4-6AF8-A5BBAFA45753}"/>
              </a:ext>
            </a:extLst>
          </p:cNvPr>
          <p:cNvSpPr txBox="1"/>
          <p:nvPr/>
        </p:nvSpPr>
        <p:spPr>
          <a:xfrm>
            <a:off x="5785158" y="1323777"/>
            <a:ext cx="4235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</a:rPr>
              <a:t>data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D0F4A24-2413-D147-FE20-6C57B707804D}"/>
              </a:ext>
            </a:extLst>
          </p:cNvPr>
          <p:cNvSpPr txBox="1"/>
          <p:nvPr/>
        </p:nvSpPr>
        <p:spPr>
          <a:xfrm>
            <a:off x="5631820" y="1720166"/>
            <a:ext cx="7302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</a:rPr>
              <a:t>metadata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BFC80C5-7405-7375-A497-E28D282E2823}"/>
              </a:ext>
            </a:extLst>
          </p:cNvPr>
          <p:cNvSpPr txBox="1"/>
          <p:nvPr/>
        </p:nvSpPr>
        <p:spPr>
          <a:xfrm>
            <a:off x="5634537" y="2065847"/>
            <a:ext cx="7302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</a:rPr>
              <a:t>metadata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A52C164-0C06-4719-6752-1A786574C30B}"/>
              </a:ext>
            </a:extLst>
          </p:cNvPr>
          <p:cNvSpPr txBox="1"/>
          <p:nvPr/>
        </p:nvSpPr>
        <p:spPr>
          <a:xfrm>
            <a:off x="9908349" y="5227646"/>
            <a:ext cx="7302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</a:rPr>
              <a:t>metadata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F7B45F-32BB-52AE-3361-EAC84FDB1B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0982" y="1653017"/>
            <a:ext cx="22796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5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ingest</a:t>
            </a:r>
          </a:p>
        </p:txBody>
      </p:sp>
    </p:spTree>
    <p:extLst>
      <p:ext uri="{BB962C8B-B14F-4D97-AF65-F5344CB8AC3E}">
        <p14:creationId xmlns:p14="http://schemas.microsoft.com/office/powerpoint/2010/main" val="713161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23" descr="Amazon DynamoDB service icon.">
            <a:extLst>
              <a:ext uri="{FF2B5EF4-FFF2-40B4-BE49-F238E27FC236}">
                <a16:creationId xmlns:a16="http://schemas.microsoft.com/office/drawing/2014/main" id="{0CDB7608-61EE-98D0-E1CF-F725DF70B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5977373" y="398862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12">
            <a:extLst>
              <a:ext uri="{FF2B5EF4-FFF2-40B4-BE49-F238E27FC236}">
                <a16:creationId xmlns:a16="http://schemas.microsoft.com/office/drawing/2014/main" id="{8A444B06-2734-F85D-5EC3-09B4193AE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9661" y="4752211"/>
            <a:ext cx="2279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DynamoDB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(Cache)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8CBE27-1290-81EA-7CF8-FE4D9DD61C06}"/>
              </a:ext>
            </a:extLst>
          </p:cNvPr>
          <p:cNvSpPr txBox="1"/>
          <p:nvPr/>
        </p:nvSpPr>
        <p:spPr>
          <a:xfrm>
            <a:off x="5292705" y="3770996"/>
            <a:ext cx="213133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i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METADATA &amp; GENERATED TEMPLATE</a:t>
            </a:r>
            <a:endParaRPr lang="en-US" sz="800" i="1" dirty="0"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748DD5-3746-CAA2-C04D-31CA6F55ACAB}"/>
              </a:ext>
            </a:extLst>
          </p:cNvPr>
          <p:cNvSpPr/>
          <p:nvPr/>
        </p:nvSpPr>
        <p:spPr>
          <a:xfrm>
            <a:off x="1445306" y="753415"/>
            <a:ext cx="1765300" cy="890588"/>
          </a:xfrm>
          <a:prstGeom prst="rect">
            <a:avLst/>
          </a:prstGeom>
          <a:noFill/>
          <a:ln w="15875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42AF4C-2D47-654F-4E93-317C1E4D51BC}"/>
              </a:ext>
            </a:extLst>
          </p:cNvPr>
          <p:cNvSpPr txBox="1"/>
          <p:nvPr/>
        </p:nvSpPr>
        <p:spPr>
          <a:xfrm>
            <a:off x="1803838" y="1159680"/>
            <a:ext cx="1048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Web App</a:t>
            </a:r>
          </a:p>
        </p:txBody>
      </p:sp>
      <p:pic>
        <p:nvPicPr>
          <p:cNvPr id="10" name="lambda" descr="Lambda service icon.">
            <a:extLst>
              <a:ext uri="{FF2B5EF4-FFF2-40B4-BE49-F238E27FC236}">
                <a16:creationId xmlns:a16="http://schemas.microsoft.com/office/drawing/2014/main" id="{98A6127F-C1A7-CB30-19D8-DEB22A794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9506139" y="753415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label5">
            <a:extLst>
              <a:ext uri="{FF2B5EF4-FFF2-40B4-BE49-F238E27FC236}">
                <a16:creationId xmlns:a16="http://schemas.microsoft.com/office/drawing/2014/main" id="{CDC7DF86-B806-6249-1BA7-E12C59CDC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3473" y="1512378"/>
            <a:ext cx="15065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AWS Lambda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Bot Actions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F117C7-ADB1-45F7-F9E8-D40377CD9C8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-184" b="184"/>
          <a:stretch/>
        </p:blipFill>
        <p:spPr>
          <a:xfrm>
            <a:off x="3210606" y="5295359"/>
            <a:ext cx="6295533" cy="12221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7A4FAA-1ED9-5DFF-F8E9-9B7CF1EC0A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18" y="5312713"/>
            <a:ext cx="3076150" cy="1245558"/>
          </a:xfrm>
          <a:prstGeom prst="rect">
            <a:avLst/>
          </a:prstGeom>
        </p:spPr>
      </p:pic>
      <p:cxnSp>
        <p:nvCxnSpPr>
          <p:cNvPr id="16" name="Straight Arrow Connector 15" descr="Left pointing horizontal arrow. ">
            <a:extLst>
              <a:ext uri="{FF2B5EF4-FFF2-40B4-BE49-F238E27FC236}">
                <a16:creationId xmlns:a16="http://schemas.microsoft.com/office/drawing/2014/main" id="{82873F51-CF77-7955-C960-10A43C76E4D3}"/>
              </a:ext>
            </a:extLst>
          </p:cNvPr>
          <p:cNvCxnSpPr>
            <a:cxnSpLocks/>
          </p:cNvCxnSpPr>
          <p:nvPr/>
        </p:nvCxnSpPr>
        <p:spPr>
          <a:xfrm>
            <a:off x="1719743" y="1644003"/>
            <a:ext cx="0" cy="2986719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 descr="Left pointing horizontal arrow. ">
            <a:extLst>
              <a:ext uri="{FF2B5EF4-FFF2-40B4-BE49-F238E27FC236}">
                <a16:creationId xmlns:a16="http://schemas.microsoft.com/office/drawing/2014/main" id="{8F82EBFB-A05C-50EF-ABD1-52AC30D1FB04}"/>
              </a:ext>
            </a:extLst>
          </p:cNvPr>
          <p:cNvCxnSpPr>
            <a:cxnSpLocks/>
          </p:cNvCxnSpPr>
          <p:nvPr/>
        </p:nvCxnSpPr>
        <p:spPr>
          <a:xfrm flipH="1">
            <a:off x="1719743" y="4630723"/>
            <a:ext cx="4257630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 descr="Left pointing horizontal arrow. ">
            <a:extLst>
              <a:ext uri="{FF2B5EF4-FFF2-40B4-BE49-F238E27FC236}">
                <a16:creationId xmlns:a16="http://schemas.microsoft.com/office/drawing/2014/main" id="{105BE04D-551C-00D4-ACFE-1FCA4D22AD69}"/>
              </a:ext>
            </a:extLst>
          </p:cNvPr>
          <p:cNvCxnSpPr>
            <a:cxnSpLocks/>
          </p:cNvCxnSpPr>
          <p:nvPr/>
        </p:nvCxnSpPr>
        <p:spPr>
          <a:xfrm>
            <a:off x="2786544" y="1662179"/>
            <a:ext cx="0" cy="2423260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 descr="Left pointing horizontal arrow. ">
            <a:extLst>
              <a:ext uri="{FF2B5EF4-FFF2-40B4-BE49-F238E27FC236}">
                <a16:creationId xmlns:a16="http://schemas.microsoft.com/office/drawing/2014/main" id="{4768AF2A-2CC8-FA60-8843-DFF24F736E45}"/>
              </a:ext>
            </a:extLst>
          </p:cNvPr>
          <p:cNvCxnSpPr>
            <a:cxnSpLocks/>
          </p:cNvCxnSpPr>
          <p:nvPr/>
        </p:nvCxnSpPr>
        <p:spPr>
          <a:xfrm flipH="1" flipV="1">
            <a:off x="2776756" y="4085439"/>
            <a:ext cx="3200617" cy="18176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 descr="Left pointing horizontal arrow. ">
            <a:extLst>
              <a:ext uri="{FF2B5EF4-FFF2-40B4-BE49-F238E27FC236}">
                <a16:creationId xmlns:a16="http://schemas.microsoft.com/office/drawing/2014/main" id="{A25734A5-3FC2-C62A-3F02-6E420AF6E928}"/>
              </a:ext>
            </a:extLst>
          </p:cNvPr>
          <p:cNvCxnSpPr>
            <a:cxnSpLocks/>
          </p:cNvCxnSpPr>
          <p:nvPr/>
        </p:nvCxnSpPr>
        <p:spPr>
          <a:xfrm>
            <a:off x="9599802" y="1898469"/>
            <a:ext cx="0" cy="2195359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 descr="Left pointing horizontal arrow. ">
            <a:extLst>
              <a:ext uri="{FF2B5EF4-FFF2-40B4-BE49-F238E27FC236}">
                <a16:creationId xmlns:a16="http://schemas.microsoft.com/office/drawing/2014/main" id="{2165BD3D-5D9C-8276-FC56-BADB5E580D05}"/>
              </a:ext>
            </a:extLst>
          </p:cNvPr>
          <p:cNvCxnSpPr>
            <a:cxnSpLocks/>
          </p:cNvCxnSpPr>
          <p:nvPr/>
        </p:nvCxnSpPr>
        <p:spPr>
          <a:xfrm>
            <a:off x="6739373" y="4103615"/>
            <a:ext cx="2860429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 descr="Left pointing horizontal arrow. ">
            <a:extLst>
              <a:ext uri="{FF2B5EF4-FFF2-40B4-BE49-F238E27FC236}">
                <a16:creationId xmlns:a16="http://schemas.microsoft.com/office/drawing/2014/main" id="{8918FE2E-A184-2978-6784-E8EAE47F29B5}"/>
              </a:ext>
            </a:extLst>
          </p:cNvPr>
          <p:cNvCxnSpPr>
            <a:cxnSpLocks/>
          </p:cNvCxnSpPr>
          <p:nvPr/>
        </p:nvCxnSpPr>
        <p:spPr>
          <a:xfrm>
            <a:off x="10175846" y="1898469"/>
            <a:ext cx="4428" cy="2732253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 descr="Left pointing horizontal arrow. ">
            <a:extLst>
              <a:ext uri="{FF2B5EF4-FFF2-40B4-BE49-F238E27FC236}">
                <a16:creationId xmlns:a16="http://schemas.microsoft.com/office/drawing/2014/main" id="{6F3AD5D3-BFF6-CD94-FC39-DF22ED1E81C4}"/>
              </a:ext>
            </a:extLst>
          </p:cNvPr>
          <p:cNvCxnSpPr>
            <a:cxnSpLocks/>
          </p:cNvCxnSpPr>
          <p:nvPr/>
        </p:nvCxnSpPr>
        <p:spPr>
          <a:xfrm>
            <a:off x="6740771" y="4641909"/>
            <a:ext cx="3435075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0E92EFC-2334-C673-F7F1-F9B89171B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8733" y="3842005"/>
            <a:ext cx="22796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5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GET template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C3BA461-6665-A747-768D-6EDCED9E2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416" y="3833310"/>
            <a:ext cx="22796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5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GET/ PUT template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D631B41-B2AA-7B64-658B-6B66C3CB0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416" y="4429858"/>
            <a:ext cx="22796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5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GET/ PUT document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9F68377-FCCC-A32E-F494-33B308FF0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8733" y="4421469"/>
            <a:ext cx="22796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5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GET/ PUT document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A9F8F9E-DD74-58F0-C6E8-73674F930847}"/>
              </a:ext>
            </a:extLst>
          </p:cNvPr>
          <p:cNvSpPr txBox="1"/>
          <p:nvPr/>
        </p:nvSpPr>
        <p:spPr>
          <a:xfrm>
            <a:off x="168153" y="99909"/>
            <a:ext cx="4228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Amazon DynamoDB for Caching</a:t>
            </a:r>
          </a:p>
        </p:txBody>
      </p:sp>
    </p:spTree>
    <p:extLst>
      <p:ext uri="{BB962C8B-B14F-4D97-AF65-F5344CB8AC3E}">
        <p14:creationId xmlns:p14="http://schemas.microsoft.com/office/powerpoint/2010/main" val="3845082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1084</TotalTime>
  <Words>237</Words>
  <Application>Microsoft Macintosh PowerPoint</Application>
  <PresentationFormat>Widescreen</PresentationFormat>
  <Paragraphs>133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Amazon Ember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Kaushik, Eashan</dc:creator>
  <cp:lastModifiedBy>Kaushik, Eashan</cp:lastModifiedBy>
  <cp:revision>18</cp:revision>
  <dcterms:created xsi:type="dcterms:W3CDTF">2024-05-20T22:13:31Z</dcterms:created>
  <dcterms:modified xsi:type="dcterms:W3CDTF">2024-07-23T01:58:01Z</dcterms:modified>
</cp:coreProperties>
</file>